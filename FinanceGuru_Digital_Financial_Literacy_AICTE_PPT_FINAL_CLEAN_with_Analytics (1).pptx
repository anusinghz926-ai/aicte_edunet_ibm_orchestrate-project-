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4421" y="368541"/>
            <a:ext cx="7179309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E36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C2C2C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E36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C2C2C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E36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E36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700" y="242544"/>
            <a:ext cx="9690900" cy="79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E36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8665" y="1748421"/>
            <a:ext cx="7177405" cy="304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C2C2C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nusinghz926@gmail.com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nusinghz926@gmail.com" TargetMode="External"/><Relationship Id="rId3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anusinghz926-ai/AICTE_EDUNET_IBM_Orchestrate-Project-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32.png"/><Relationship Id="rId4" Type="http://schemas.openxmlformats.org/officeDocument/2006/relationships/image" Target="../media/image3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nusinghz926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4574" y="1709178"/>
            <a:ext cx="930338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13365E"/>
                </a:solidFill>
              </a:rPr>
              <a:t>IBM</a:t>
            </a:r>
            <a:r>
              <a:rPr dirty="0" sz="3200" spc="-35">
                <a:solidFill>
                  <a:srgbClr val="13365E"/>
                </a:solidFill>
              </a:rPr>
              <a:t> </a:t>
            </a:r>
            <a:r>
              <a:rPr dirty="0" sz="3200">
                <a:solidFill>
                  <a:srgbClr val="13365E"/>
                </a:solidFill>
              </a:rPr>
              <a:t>University</a:t>
            </a:r>
            <a:r>
              <a:rPr dirty="0" sz="3200" spc="-35">
                <a:solidFill>
                  <a:srgbClr val="13365E"/>
                </a:solidFill>
              </a:rPr>
              <a:t> </a:t>
            </a:r>
            <a:r>
              <a:rPr dirty="0" sz="3200">
                <a:solidFill>
                  <a:srgbClr val="13365E"/>
                </a:solidFill>
              </a:rPr>
              <a:t>Engagement</a:t>
            </a:r>
            <a:r>
              <a:rPr dirty="0" sz="3200" spc="-35">
                <a:solidFill>
                  <a:srgbClr val="13365E"/>
                </a:solidFill>
              </a:rPr>
              <a:t> </a:t>
            </a:r>
            <a:r>
              <a:rPr dirty="0" sz="3200">
                <a:solidFill>
                  <a:srgbClr val="13365E"/>
                </a:solidFill>
              </a:rPr>
              <a:t>Project</a:t>
            </a:r>
            <a:r>
              <a:rPr dirty="0" sz="3200" spc="-35">
                <a:solidFill>
                  <a:srgbClr val="13365E"/>
                </a:solidFill>
              </a:rPr>
              <a:t> </a:t>
            </a:r>
            <a:r>
              <a:rPr dirty="0" sz="3200" spc="-10">
                <a:solidFill>
                  <a:srgbClr val="13365E"/>
                </a:solidFill>
              </a:rPr>
              <a:t>Submission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716023" y="2829496"/>
            <a:ext cx="8756650" cy="2235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“Exploring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Power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-13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Agentic</a:t>
            </a:r>
            <a:r>
              <a:rPr dirty="0" sz="2300" spc="-13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AI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with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IBM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Cloud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-15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404040"/>
                </a:solidFill>
                <a:latin typeface="Microsoft Sans Serif"/>
                <a:cs typeface="Microsoft Sans Serif"/>
              </a:rPr>
              <a:t>Orchestrate”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algn="ctr" marL="14604">
              <a:lnSpc>
                <a:spcPct val="100000"/>
              </a:lnSpc>
            </a:pP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FinanceGuru</a:t>
            </a:r>
            <a:r>
              <a:rPr dirty="0" sz="2700" spc="-3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—</a:t>
            </a:r>
            <a:r>
              <a:rPr dirty="0" sz="2700" spc="-1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AI</a:t>
            </a:r>
            <a:r>
              <a:rPr dirty="0" sz="2700" spc="-1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Agent</a:t>
            </a:r>
            <a:r>
              <a:rPr dirty="0" sz="2700" spc="-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for</a:t>
            </a:r>
            <a:r>
              <a:rPr dirty="0" sz="2700" spc="-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Digital</a:t>
            </a:r>
            <a:r>
              <a:rPr dirty="0" sz="2700" spc="-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365E"/>
                </a:solidFill>
                <a:latin typeface="Arial"/>
                <a:cs typeface="Arial"/>
              </a:rPr>
              <a:t>Financial</a:t>
            </a:r>
            <a:r>
              <a:rPr dirty="0" sz="2700" spc="-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13365E"/>
                </a:solidFill>
                <a:latin typeface="Arial"/>
                <a:cs typeface="Arial"/>
              </a:rPr>
              <a:t>Literacy</a:t>
            </a:r>
            <a:endParaRPr sz="2700">
              <a:latin typeface="Arial"/>
              <a:cs typeface="Arial"/>
            </a:endParaRPr>
          </a:p>
          <a:p>
            <a:pPr algn="ctr" marL="15875">
              <a:lnSpc>
                <a:spcPct val="100000"/>
              </a:lnSpc>
              <a:spcBef>
                <a:spcPts val="2885"/>
              </a:spcBef>
            </a:pPr>
            <a:r>
              <a:rPr dirty="0" sz="1800">
                <a:solidFill>
                  <a:srgbClr val="4F4F4F"/>
                </a:solidFill>
                <a:latin typeface="Microsoft Sans Serif"/>
                <a:cs typeface="Microsoft Sans Serif"/>
              </a:rPr>
              <a:t>Presented</a:t>
            </a:r>
            <a:r>
              <a:rPr dirty="0" sz="1800" spc="-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F4F4F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-10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F4F4F"/>
                </a:solidFill>
                <a:latin typeface="Microsoft Sans Serif"/>
                <a:cs typeface="Microsoft Sans Serif"/>
              </a:rPr>
              <a:t>Anurag Singh</a:t>
            </a:r>
            <a:r>
              <a:rPr dirty="0" sz="1800" spc="47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F4F4F"/>
                </a:solidFill>
                <a:latin typeface="Microsoft Sans Serif"/>
                <a:cs typeface="Microsoft Sans Serif"/>
              </a:rPr>
              <a:t>|</a:t>
            </a:r>
            <a:r>
              <a:rPr dirty="0" sz="1800" spc="46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F4F4F"/>
                </a:solidFill>
                <a:latin typeface="Microsoft Sans Serif"/>
                <a:cs typeface="Microsoft Sans Serif"/>
                <a:hlinkClick r:id="rId2"/>
              </a:rPr>
              <a:t>anusinghz926@gmail.com</a:t>
            </a:r>
            <a:r>
              <a:rPr dirty="0" sz="1800" spc="47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F4F4F"/>
                </a:solidFill>
                <a:latin typeface="Microsoft Sans Serif"/>
                <a:cs typeface="Microsoft Sans Serif"/>
              </a:rPr>
              <a:t>|</a:t>
            </a:r>
            <a:r>
              <a:rPr dirty="0" sz="1800" spc="47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4F4F4F"/>
                </a:solidFill>
                <a:latin typeface="Microsoft Sans Serif"/>
                <a:cs typeface="Microsoft Sans Serif"/>
              </a:rPr>
              <a:t>9798869904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93837" y="2594876"/>
          <a:ext cx="9481820" cy="216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4385"/>
                <a:gridCol w="2442844"/>
                <a:gridCol w="2442845"/>
                <a:gridCol w="2442845"/>
              </a:tblGrid>
              <a:tr h="972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Student</a:t>
                      </a:r>
                      <a:r>
                        <a:rPr dirty="0" sz="16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A9A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Recent</a:t>
                      </a:r>
                      <a:r>
                        <a:rPr dirty="0" sz="16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Passport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Photo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A9A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Email</a:t>
                      </a:r>
                      <a:r>
                        <a:rPr dirty="0" sz="16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A9A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904240">
                        <a:lnSpc>
                          <a:spcPts val="178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Mobile</a:t>
                      </a:r>
                      <a:r>
                        <a:rPr dirty="0" sz="16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number [WhatsApp]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A9AD4"/>
                    </a:solidFill>
                  </a:tcPr>
                </a:tc>
              </a:tr>
              <a:tr h="1193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Anurag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Singh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DE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00" spc="-10">
                          <a:latin typeface="Microsoft Sans Serif"/>
                          <a:cs typeface="Microsoft Sans Serif"/>
                          <a:hlinkClick r:id="rId2"/>
                        </a:rPr>
                        <a:t>anusinghz926@gmail.com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D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700" spc="-10">
                          <a:latin typeface="Microsoft Sans Serif"/>
                          <a:cs typeface="Microsoft Sans Serif"/>
                        </a:rPr>
                        <a:t>9798869904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DEE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82941" y="1492821"/>
            <a:ext cx="7671434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Domain</a:t>
            </a:r>
            <a:r>
              <a:rPr dirty="0" sz="1900" spc="-6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of</a:t>
            </a:r>
            <a:r>
              <a:rPr dirty="0" sz="1900" spc="-6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Project</a:t>
            </a:r>
            <a:r>
              <a:rPr dirty="0" sz="1900" spc="-5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–</a:t>
            </a:r>
            <a:r>
              <a:rPr dirty="0" sz="1900" spc="-6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Finance</a:t>
            </a:r>
            <a:r>
              <a:rPr dirty="0" sz="1900" spc="-5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/</a:t>
            </a:r>
            <a:r>
              <a:rPr dirty="0" sz="1900" spc="-6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Digital</a:t>
            </a:r>
            <a:r>
              <a:rPr dirty="0" sz="1900" spc="-6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Financial</a:t>
            </a:r>
            <a:r>
              <a:rPr dirty="0" sz="1900" spc="-5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Literacy</a:t>
            </a:r>
            <a:r>
              <a:rPr dirty="0" sz="1900" spc="-6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3365E"/>
                </a:solidFill>
                <a:latin typeface="Arial"/>
                <a:cs typeface="Arial"/>
              </a:rPr>
              <a:t>/</a:t>
            </a:r>
            <a:r>
              <a:rPr dirty="0" sz="1900" spc="-1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3365E"/>
                </a:solidFill>
                <a:latin typeface="Arial"/>
                <a:cs typeface="Arial"/>
              </a:rPr>
              <a:t>Agentic</a:t>
            </a:r>
            <a:r>
              <a:rPr dirty="0" sz="1900" spc="-1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13365E"/>
                </a:solidFill>
                <a:latin typeface="Arial"/>
                <a:cs typeface="Arial"/>
              </a:rPr>
              <a:t>AI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3974" rIns="0" bIns="0" rtlCol="0" vert="horz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3365E"/>
                </a:solidFill>
              </a:rPr>
              <a:t>Project</a:t>
            </a:r>
            <a:r>
              <a:rPr dirty="0" sz="2000" spc="-35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Title</a:t>
            </a:r>
            <a:r>
              <a:rPr dirty="0" sz="2000" spc="-35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–</a:t>
            </a:r>
            <a:r>
              <a:rPr dirty="0" sz="2000" spc="-40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FinanceGuru:</a:t>
            </a:r>
            <a:r>
              <a:rPr dirty="0" sz="2000" spc="-105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AI</a:t>
            </a:r>
            <a:r>
              <a:rPr dirty="0" sz="2000" spc="-105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Agent</a:t>
            </a:r>
            <a:r>
              <a:rPr dirty="0" sz="2000" spc="-40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for</a:t>
            </a:r>
            <a:r>
              <a:rPr dirty="0" sz="2000" spc="-40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Digital</a:t>
            </a:r>
            <a:r>
              <a:rPr dirty="0" sz="2000" spc="-40">
                <a:solidFill>
                  <a:srgbClr val="13365E"/>
                </a:solidFill>
              </a:rPr>
              <a:t> </a:t>
            </a:r>
            <a:r>
              <a:rPr dirty="0" sz="2000">
                <a:solidFill>
                  <a:srgbClr val="13365E"/>
                </a:solidFill>
              </a:rPr>
              <a:t>Financial</a:t>
            </a:r>
            <a:r>
              <a:rPr dirty="0" sz="2000" spc="-40">
                <a:solidFill>
                  <a:srgbClr val="13365E"/>
                </a:solidFill>
              </a:rPr>
              <a:t> </a:t>
            </a:r>
            <a:r>
              <a:rPr dirty="0" sz="2000" spc="-10">
                <a:solidFill>
                  <a:srgbClr val="13365E"/>
                </a:solidFill>
              </a:rPr>
              <a:t>Literacy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1289773" y="5243664"/>
            <a:ext cx="325056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Recommended</a:t>
            </a:r>
            <a:r>
              <a:rPr dirty="0" sz="1800" spc="-20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format</a:t>
            </a:r>
            <a:r>
              <a:rPr dirty="0" sz="1800" spc="-20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454545"/>
                </a:solidFill>
                <a:latin typeface="Microsoft Sans Serif"/>
                <a:cs typeface="Microsoft Sans Serif"/>
              </a:rPr>
              <a:t>followed: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Font</a:t>
            </a:r>
            <a:r>
              <a:rPr dirty="0" sz="1800" spc="15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454545"/>
                </a:solidFill>
                <a:latin typeface="Microsoft Sans Serif"/>
                <a:cs typeface="Microsoft Sans Serif"/>
              </a:rPr>
              <a:t>Style:</a:t>
            </a:r>
            <a:r>
              <a:rPr dirty="0" sz="1800" spc="-85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454545"/>
                </a:solidFill>
                <a:latin typeface="Microsoft Sans Serif"/>
                <a:cs typeface="Microsoft Sans Serif"/>
              </a:rPr>
              <a:t>Arial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Heading:</a:t>
            </a:r>
            <a:r>
              <a:rPr dirty="0" sz="1800" spc="-10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28</a:t>
            </a:r>
            <a:r>
              <a:rPr dirty="0" sz="1800" spc="-5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pt</a:t>
            </a:r>
            <a:r>
              <a:rPr dirty="0" sz="1800" spc="-5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|</a:t>
            </a:r>
            <a:r>
              <a:rPr dirty="0" sz="1800" spc="-10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Content:</a:t>
            </a:r>
            <a:r>
              <a:rPr dirty="0" sz="1800" spc="-5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454545"/>
                </a:solidFill>
                <a:latin typeface="Microsoft Sans Serif"/>
                <a:cs typeface="Microsoft Sans Serif"/>
              </a:rPr>
              <a:t>20</a:t>
            </a:r>
            <a:r>
              <a:rPr dirty="0" sz="1800" spc="-5">
                <a:solidFill>
                  <a:srgbClr val="454545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454545"/>
                </a:solidFill>
                <a:latin typeface="Microsoft Sans Serif"/>
                <a:cs typeface="Microsoft Sans Serif"/>
              </a:rPr>
              <a:t>pt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6435" y="3748671"/>
            <a:ext cx="685444" cy="776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300" y="1358175"/>
            <a:ext cx="10741660" cy="2617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Challenge</a:t>
            </a:r>
            <a:endParaRPr sz="1700">
              <a:latin typeface="Microsoft Sans Serif"/>
              <a:cs typeface="Microsoft Sans Serif"/>
            </a:endParaRPr>
          </a:p>
          <a:p>
            <a:pPr marL="147320" indent="-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Users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need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simple,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trustworthy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guidance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UPI,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online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scams,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interest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rates,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budgeting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personal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finance.</a:t>
            </a:r>
            <a:endParaRPr sz="1700">
              <a:latin typeface="Microsoft Sans Serif"/>
              <a:cs typeface="Microsoft Sans Serif"/>
            </a:endParaRPr>
          </a:p>
          <a:p>
            <a:pPr marL="147320" indent="-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Reliable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spread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across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portals,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banking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websites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educational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platforms.</a:t>
            </a:r>
            <a:endParaRPr sz="1700">
              <a:latin typeface="Microsoft Sans Serif"/>
              <a:cs typeface="Microsoft Sans Serif"/>
            </a:endParaRPr>
          </a:p>
          <a:p>
            <a:pPr marL="147320" indent="-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Many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users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need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support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ask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questions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comfortably.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Objective</a:t>
            </a:r>
            <a:endParaRPr sz="1700">
              <a:latin typeface="Microsoft Sans Serif"/>
              <a:cs typeface="Microsoft Sans Serif"/>
            </a:endParaRPr>
          </a:p>
          <a:p>
            <a:pPr marL="12700" marR="93345">
              <a:lnSpc>
                <a:spcPct val="100000"/>
              </a:lnSpc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Build</a:t>
            </a:r>
            <a:r>
              <a:rPr dirty="0" sz="1700" spc="-8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</a:t>
            </a:r>
            <a:r>
              <a:rPr dirty="0" sz="1700" spc="-114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AI-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powered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Digital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Literacy</a:t>
            </a:r>
            <a:r>
              <a:rPr dirty="0" sz="1700" spc="-10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Agent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retrieves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reliable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content,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explains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simple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language,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detects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scam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risks,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improves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digital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finance.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Target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impact: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safer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digital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payments,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better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understanding,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faster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fraud-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response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guidance.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1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3365E"/>
                </a:solidFill>
              </a:rPr>
              <a:t>Problem</a:t>
            </a:r>
            <a:r>
              <a:rPr dirty="0" spc="-4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Statement</a:t>
            </a:r>
            <a:r>
              <a:rPr dirty="0" spc="-3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–</a:t>
            </a:r>
            <a:r>
              <a:rPr dirty="0" spc="-4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No.</a:t>
            </a:r>
            <a:r>
              <a:rPr dirty="0" spc="-40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7:</a:t>
            </a:r>
            <a:r>
              <a:rPr dirty="0" spc="-130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AI</a:t>
            </a:r>
            <a:r>
              <a:rPr dirty="0" spc="-12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Agent</a:t>
            </a:r>
            <a:r>
              <a:rPr dirty="0" spc="-4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for</a:t>
            </a:r>
            <a:r>
              <a:rPr dirty="0" spc="-3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Digital</a:t>
            </a:r>
            <a:r>
              <a:rPr dirty="0" spc="-4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Financial</a:t>
            </a:r>
            <a:r>
              <a:rPr dirty="0" spc="-40">
                <a:solidFill>
                  <a:srgbClr val="13365E"/>
                </a:solidFill>
              </a:rPr>
              <a:t> </a:t>
            </a:r>
            <a:r>
              <a:rPr dirty="0" spc="-10">
                <a:solidFill>
                  <a:srgbClr val="13365E"/>
                </a:solidFill>
              </a:rPr>
              <a:t>Literacy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300" y="1358175"/>
            <a:ext cx="10596245" cy="39135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FinanceGuru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conversational</a:t>
            </a:r>
            <a:r>
              <a:rPr dirty="0" sz="1700" spc="-10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AI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assistant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Indian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users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delivered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through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browser-based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chat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interface.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147320" indent="-134620">
              <a:lnSpc>
                <a:spcPct val="100000"/>
              </a:lnSpc>
              <a:spcBef>
                <a:spcPts val="5"/>
              </a:spcBef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IBM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watsonx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Orchestrate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agent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runtime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reasoning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workflow.</a:t>
            </a:r>
            <a:endParaRPr sz="1700">
              <a:latin typeface="Microsoft Sans Serif"/>
              <a:cs typeface="Microsoft Sans Serif"/>
            </a:endParaRPr>
          </a:p>
          <a:p>
            <a:pPr marL="12700" marR="165100" indent="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Covers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9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finance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areas: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FDs,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stocks,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mutual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funds,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crypto,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UPI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safety,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loans,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budgeting,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PPF/NPS/gold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and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cyber-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fraud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reporting.</a:t>
            </a:r>
            <a:endParaRPr sz="1700">
              <a:latin typeface="Microsoft Sans Serif"/>
              <a:cs typeface="Microsoft Sans Serif"/>
            </a:endParaRPr>
          </a:p>
          <a:p>
            <a:pPr marL="12700" marR="366395" indent="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Proactive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scam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identifies</a:t>
            </a:r>
            <a:r>
              <a:rPr dirty="0" sz="17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red</a:t>
            </a:r>
            <a:r>
              <a:rPr dirty="0" sz="17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flags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such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urgency,</a:t>
            </a:r>
            <a:r>
              <a:rPr dirty="0" sz="17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OTP/PIN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requests,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guaranteed</a:t>
            </a:r>
            <a:r>
              <a:rPr dirty="0" sz="17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returns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and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suspicious</a:t>
            </a:r>
            <a:r>
              <a:rPr dirty="0" sz="1700" spc="-6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loan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fees.</a:t>
            </a:r>
            <a:endParaRPr sz="1700">
              <a:latin typeface="Microsoft Sans Serif"/>
              <a:cs typeface="Microsoft Sans Serif"/>
            </a:endParaRPr>
          </a:p>
          <a:p>
            <a:pPr marL="147320" indent="-134620">
              <a:lnSpc>
                <a:spcPct val="100000"/>
              </a:lnSpc>
              <a:spcBef>
                <a:spcPts val="5"/>
              </a:spcBef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Direct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answers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include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EMI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/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maturity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calculations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plain-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explanations.</a:t>
            </a:r>
            <a:endParaRPr sz="1700">
              <a:latin typeface="Microsoft Sans Serif"/>
              <a:cs typeface="Microsoft Sans Serif"/>
            </a:endParaRPr>
          </a:p>
          <a:p>
            <a:pPr marL="147320" indent="-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Hindi/English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interaction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improves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accessibility.</a:t>
            </a:r>
            <a:endParaRPr sz="1700">
              <a:latin typeface="Microsoft Sans Serif"/>
              <a:cs typeface="Microsoft Sans Serif"/>
            </a:endParaRPr>
          </a:p>
          <a:p>
            <a:pPr marL="12700" marR="149860" indent="134620">
              <a:lnSpc>
                <a:spcPct val="100000"/>
              </a:lnSpc>
              <a:buChar char="•"/>
              <a:tabLst>
                <a:tab pos="14732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Flask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connects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browser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UI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watsonx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Orchestrate</a:t>
            </a:r>
            <a:r>
              <a:rPr dirty="0" sz="17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Chat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Completions</a:t>
            </a:r>
            <a:r>
              <a:rPr dirty="0" sz="1700" spc="-10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API;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Web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Speech</a:t>
            </a:r>
            <a:r>
              <a:rPr dirty="0" sz="1700" spc="-10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enables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voice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input.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12700" marR="654685">
              <a:lnSpc>
                <a:spcPct val="100000"/>
              </a:lnSpc>
              <a:spcBef>
                <a:spcPts val="5"/>
              </a:spcBef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Current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build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note: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embedded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agent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instruction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set;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future</a:t>
            </a:r>
            <a:r>
              <a:rPr dirty="0" sz="17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RAG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layer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can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connect</a:t>
            </a:r>
            <a:r>
              <a:rPr dirty="0" sz="1700" spc="-7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curated</a:t>
            </a:r>
            <a:r>
              <a:rPr dirty="0" sz="1700" spc="-7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official</a:t>
            </a:r>
            <a:r>
              <a:rPr dirty="0" sz="1700" spc="-7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sources.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1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3365E"/>
                </a:solidFill>
              </a:rPr>
              <a:t>Proposed</a:t>
            </a:r>
            <a:r>
              <a:rPr dirty="0" spc="-45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Solution</a:t>
            </a:r>
            <a:r>
              <a:rPr dirty="0" spc="-40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–</a:t>
            </a:r>
            <a:r>
              <a:rPr dirty="0" spc="-40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FinanceGuru</a:t>
            </a:r>
            <a:r>
              <a:rPr dirty="0" spc="-40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Digital</a:t>
            </a:r>
            <a:r>
              <a:rPr dirty="0" spc="-40">
                <a:solidFill>
                  <a:srgbClr val="13365E"/>
                </a:solidFill>
              </a:rPr>
              <a:t> </a:t>
            </a:r>
            <a:r>
              <a:rPr dirty="0">
                <a:solidFill>
                  <a:srgbClr val="13365E"/>
                </a:solidFill>
              </a:rPr>
              <a:t>Financial</a:t>
            </a:r>
            <a:r>
              <a:rPr dirty="0" spc="-45">
                <a:solidFill>
                  <a:srgbClr val="13365E"/>
                </a:solidFill>
              </a:rPr>
              <a:t> </a:t>
            </a:r>
            <a:r>
              <a:rPr dirty="0" spc="-10">
                <a:solidFill>
                  <a:srgbClr val="13365E"/>
                </a:solidFill>
              </a:rPr>
              <a:t>Literacy</a:t>
            </a:r>
            <a:r>
              <a:rPr dirty="0" spc="-125">
                <a:solidFill>
                  <a:srgbClr val="13365E"/>
                </a:solidFill>
              </a:rPr>
              <a:t> </a:t>
            </a:r>
            <a:r>
              <a:rPr dirty="0" spc="-10">
                <a:solidFill>
                  <a:srgbClr val="13365E"/>
                </a:solidFill>
              </a:rPr>
              <a:t>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299" rIns="0" bIns="0" rtlCol="0" vert="horz">
            <a:spAutoFit/>
          </a:bodyPr>
          <a:lstStyle/>
          <a:p>
            <a:pPr marL="34798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13365E"/>
                </a:solidFill>
              </a:rPr>
              <a:t>Technology</a:t>
            </a:r>
            <a:r>
              <a:rPr dirty="0" sz="2700" spc="-160">
                <a:solidFill>
                  <a:srgbClr val="13365E"/>
                </a:solidFill>
              </a:rPr>
              <a:t> </a:t>
            </a:r>
            <a:r>
              <a:rPr dirty="0" sz="2700" spc="-20">
                <a:solidFill>
                  <a:srgbClr val="13365E"/>
                </a:solidFill>
              </a:rPr>
              <a:t>Used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855624" y="1111935"/>
            <a:ext cx="10317480" cy="313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IBM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watsonx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Orchestrate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Native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agent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runtime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conversational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orchestration.</a:t>
            </a:r>
            <a:endParaRPr sz="1700">
              <a:latin typeface="Microsoft Sans Serif"/>
              <a:cs typeface="Microsoft Sans Serif"/>
            </a:endParaRPr>
          </a:p>
          <a:p>
            <a:pPr marL="12700" marR="5080" indent="238125">
              <a:lnSpc>
                <a:spcPct val="100000"/>
              </a:lnSpc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IBM</a:t>
            </a:r>
            <a:r>
              <a:rPr dirty="0" sz="17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Granite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IBM</a:t>
            </a:r>
            <a:r>
              <a:rPr dirty="0" sz="1700" spc="-1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AI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model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family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114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AICTE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problem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statement;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Granite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configurations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are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included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project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artifacts.</a:t>
            </a:r>
            <a:endParaRPr sz="1700">
              <a:latin typeface="Microsoft Sans Serif"/>
              <a:cs typeface="Microsoft Sans Serif"/>
            </a:endParaRPr>
          </a:p>
          <a:p>
            <a:pPr marL="12700" marR="1241425" indent="238125">
              <a:lnSpc>
                <a:spcPct val="100000"/>
              </a:lnSpc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Current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Orchestrate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build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Screenshot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shows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GPT-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OSS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120B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via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Groq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as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active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model configuration.</a:t>
            </a:r>
            <a:endParaRPr sz="1700">
              <a:latin typeface="Microsoft Sans Serif"/>
              <a:cs typeface="Microsoft Sans Serif"/>
            </a:endParaRPr>
          </a:p>
          <a:p>
            <a:pPr marL="250825" indent="-23812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Python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+</a:t>
            </a:r>
            <a:r>
              <a:rPr dirty="0" sz="17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Flask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Web</a:t>
            </a:r>
            <a:r>
              <a:rPr dirty="0" sz="17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backend,</a:t>
            </a:r>
            <a:r>
              <a:rPr dirty="0" sz="1700" spc="-10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mediation,</a:t>
            </a:r>
            <a:r>
              <a:rPr dirty="0" sz="17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session/thread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management.</a:t>
            </a:r>
            <a:endParaRPr sz="1700">
              <a:latin typeface="Microsoft Sans Serif"/>
              <a:cs typeface="Microsoft Sans Serif"/>
            </a:endParaRPr>
          </a:p>
          <a:p>
            <a:pPr marL="250825" indent="-238125">
              <a:lnSpc>
                <a:spcPct val="100000"/>
              </a:lnSpc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IBM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IAM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Converts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server-side</a:t>
            </a:r>
            <a:r>
              <a:rPr dirty="0" sz="1700" spc="-10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key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into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short-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lived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Bearer</a:t>
            </a:r>
            <a:r>
              <a:rPr dirty="0" sz="17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token.</a:t>
            </a:r>
            <a:endParaRPr sz="1700">
              <a:latin typeface="Microsoft Sans Serif"/>
              <a:cs typeface="Microsoft Sans Serif"/>
            </a:endParaRPr>
          </a:p>
          <a:p>
            <a:pPr marL="250825" indent="-238125">
              <a:lnSpc>
                <a:spcPct val="100000"/>
              </a:lnSpc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Chat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Completions</a:t>
            </a:r>
            <a:r>
              <a:rPr dirty="0" sz="1700" spc="-10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Sends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user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messages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Orchestrate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agent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2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receives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responses.</a:t>
            </a:r>
            <a:endParaRPr sz="1700">
              <a:latin typeface="Microsoft Sans Serif"/>
              <a:cs typeface="Microsoft Sans Serif"/>
            </a:endParaRPr>
          </a:p>
          <a:p>
            <a:pPr marL="250825" indent="-238125">
              <a:lnSpc>
                <a:spcPct val="100000"/>
              </a:lnSpc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HTML</a:t>
            </a:r>
            <a:r>
              <a:rPr dirty="0" sz="1700" spc="-9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/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CSS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/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JavaScript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Responsive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chat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interface,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markdown</a:t>
            </a:r>
            <a:r>
              <a:rPr dirty="0" sz="17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rendering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dark/light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mode.</a:t>
            </a:r>
            <a:endParaRPr sz="1700">
              <a:latin typeface="Microsoft Sans Serif"/>
              <a:cs typeface="Microsoft Sans Serif"/>
            </a:endParaRPr>
          </a:p>
          <a:p>
            <a:pPr marL="250825" indent="-23812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0825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Web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Speech</a:t>
            </a:r>
            <a:r>
              <a:rPr dirty="0" sz="1700" spc="-9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Client-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side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voice-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to-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text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input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(en-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current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 implementation).</a:t>
            </a:r>
            <a:endParaRPr sz="1700">
              <a:latin typeface="Microsoft Sans Serif"/>
              <a:cs typeface="Microsoft Sans Serif"/>
            </a:endParaRPr>
          </a:p>
          <a:p>
            <a:pPr lvl="1" marL="298450" marR="67945" indent="-286385">
              <a:lnSpc>
                <a:spcPct val="100000"/>
              </a:lnSpc>
              <a:buClr>
                <a:srgbClr val="000000"/>
              </a:buClr>
              <a:buChar char="•"/>
              <a:tabLst>
                <a:tab pos="298450" algn="l"/>
              </a:tabLst>
            </a:pP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9.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RAG-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ready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45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Curated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official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sources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can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be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connected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grounded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7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2C2C2C"/>
                </a:solidFill>
                <a:latin typeface="Microsoft Sans Serif"/>
                <a:cs typeface="Microsoft Sans Serif"/>
              </a:rPr>
              <a:t>next </a:t>
            </a:r>
            <a:r>
              <a:rPr dirty="0" sz="1700" spc="-10">
                <a:solidFill>
                  <a:srgbClr val="2C2C2C"/>
                </a:solidFill>
                <a:latin typeface="Microsoft Sans Serif"/>
                <a:cs typeface="Microsoft Sans Serif"/>
              </a:rPr>
              <a:t>iteration.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504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13365E"/>
                </a:solidFill>
              </a:rPr>
              <a:t>Orchestrate</a:t>
            </a:r>
            <a:r>
              <a:rPr dirty="0" sz="2800" spc="-140">
                <a:solidFill>
                  <a:srgbClr val="13365E"/>
                </a:solidFill>
              </a:rPr>
              <a:t> </a:t>
            </a:r>
            <a:r>
              <a:rPr dirty="0" sz="2800" spc="-10">
                <a:solidFill>
                  <a:srgbClr val="13365E"/>
                </a:solidFill>
              </a:rPr>
              <a:t>Components</a:t>
            </a:r>
            <a:r>
              <a:rPr dirty="0" sz="2800" spc="-145">
                <a:solidFill>
                  <a:srgbClr val="13365E"/>
                </a:solidFill>
              </a:rPr>
              <a:t> </a:t>
            </a:r>
            <a:r>
              <a:rPr dirty="0" sz="2800" spc="-20">
                <a:solidFill>
                  <a:srgbClr val="13365E"/>
                </a:solidFill>
              </a:rPr>
              <a:t>Used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595083" y="1121016"/>
            <a:ext cx="3244850" cy="2146935"/>
            <a:chOff x="595083" y="1121016"/>
            <a:chExt cx="3244850" cy="2146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121016"/>
              <a:ext cx="3244316" cy="21467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14264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43433" y="0"/>
                  </a:moveTo>
                  <a:lnTo>
                    <a:pt x="298428" y="2946"/>
                  </a:lnTo>
                  <a:lnTo>
                    <a:pt x="254469" y="11698"/>
                  </a:lnTo>
                  <a:lnTo>
                    <a:pt x="212063" y="26119"/>
                  </a:lnTo>
                  <a:lnTo>
                    <a:pt x="171716" y="46075"/>
                  </a:lnTo>
                  <a:lnTo>
                    <a:pt x="134322" y="71123"/>
                  </a:lnTo>
                  <a:lnTo>
                    <a:pt x="100667" y="100706"/>
                  </a:lnTo>
                  <a:lnTo>
                    <a:pt x="71270" y="134322"/>
                  </a:lnTo>
                  <a:lnTo>
                    <a:pt x="46431" y="171716"/>
                  </a:lnTo>
                  <a:lnTo>
                    <a:pt x="26473" y="212063"/>
                  </a:lnTo>
                  <a:lnTo>
                    <a:pt x="12045" y="254469"/>
                  </a:lnTo>
                  <a:lnTo>
                    <a:pt x="3302" y="298278"/>
                  </a:lnTo>
                  <a:lnTo>
                    <a:pt x="355" y="343077"/>
                  </a:lnTo>
                  <a:lnTo>
                    <a:pt x="0" y="1714677"/>
                  </a:lnTo>
                  <a:lnTo>
                    <a:pt x="2933" y="1759476"/>
                  </a:lnTo>
                  <a:lnTo>
                    <a:pt x="2946" y="1759682"/>
                  </a:lnTo>
                  <a:lnTo>
                    <a:pt x="11636" y="1803330"/>
                  </a:lnTo>
                  <a:lnTo>
                    <a:pt x="11698" y="1803641"/>
                  </a:lnTo>
                  <a:lnTo>
                    <a:pt x="26000" y="1845697"/>
                  </a:lnTo>
                  <a:lnTo>
                    <a:pt x="26119" y="1846047"/>
                  </a:lnTo>
                  <a:lnTo>
                    <a:pt x="46075" y="1886394"/>
                  </a:lnTo>
                  <a:lnTo>
                    <a:pt x="71123" y="1923788"/>
                  </a:lnTo>
                  <a:lnTo>
                    <a:pt x="100661" y="1957404"/>
                  </a:lnTo>
                  <a:lnTo>
                    <a:pt x="134316" y="1986837"/>
                  </a:lnTo>
                  <a:lnTo>
                    <a:pt x="171716" y="2011680"/>
                  </a:lnTo>
                  <a:lnTo>
                    <a:pt x="212057" y="2031636"/>
                  </a:lnTo>
                  <a:lnTo>
                    <a:pt x="254425" y="2046057"/>
                  </a:lnTo>
                  <a:lnTo>
                    <a:pt x="298278" y="2054808"/>
                  </a:lnTo>
                  <a:lnTo>
                    <a:pt x="343077" y="2057755"/>
                  </a:lnTo>
                  <a:lnTo>
                    <a:pt x="2811957" y="2057755"/>
                  </a:lnTo>
                  <a:lnTo>
                    <a:pt x="2856962" y="2054808"/>
                  </a:lnTo>
                  <a:lnTo>
                    <a:pt x="2900921" y="2046057"/>
                  </a:lnTo>
                  <a:lnTo>
                    <a:pt x="2943327" y="2031636"/>
                  </a:lnTo>
                  <a:lnTo>
                    <a:pt x="2983674" y="2011680"/>
                  </a:lnTo>
                  <a:lnTo>
                    <a:pt x="3021068" y="1986631"/>
                  </a:lnTo>
                  <a:lnTo>
                    <a:pt x="3054684" y="1957093"/>
                  </a:lnTo>
                  <a:lnTo>
                    <a:pt x="3084117" y="1923438"/>
                  </a:lnTo>
                  <a:lnTo>
                    <a:pt x="3108960" y="1886038"/>
                  </a:lnTo>
                  <a:lnTo>
                    <a:pt x="3128916" y="1845697"/>
                  </a:lnTo>
                  <a:lnTo>
                    <a:pt x="3143231" y="1803641"/>
                  </a:lnTo>
                  <a:lnTo>
                    <a:pt x="3152047" y="1759682"/>
                  </a:lnTo>
                  <a:lnTo>
                    <a:pt x="3152088" y="1759476"/>
                  </a:lnTo>
                  <a:lnTo>
                    <a:pt x="3155035" y="1714677"/>
                  </a:lnTo>
                  <a:lnTo>
                    <a:pt x="3155012" y="343077"/>
                  </a:lnTo>
                  <a:lnTo>
                    <a:pt x="3152088" y="298428"/>
                  </a:lnTo>
                  <a:lnTo>
                    <a:pt x="3143337" y="254469"/>
                  </a:lnTo>
                  <a:lnTo>
                    <a:pt x="3128916" y="212063"/>
                  </a:lnTo>
                  <a:lnTo>
                    <a:pt x="3108960" y="171716"/>
                  </a:lnTo>
                  <a:lnTo>
                    <a:pt x="3083911" y="134322"/>
                  </a:lnTo>
                  <a:lnTo>
                    <a:pt x="3054373" y="100706"/>
                  </a:lnTo>
                  <a:lnTo>
                    <a:pt x="3020718" y="71273"/>
                  </a:lnTo>
                  <a:lnTo>
                    <a:pt x="2983318" y="46431"/>
                  </a:lnTo>
                  <a:lnTo>
                    <a:pt x="2942977" y="26474"/>
                  </a:lnTo>
                  <a:lnTo>
                    <a:pt x="2900610" y="12053"/>
                  </a:lnTo>
                  <a:lnTo>
                    <a:pt x="2856756" y="3302"/>
                  </a:lnTo>
                  <a:lnTo>
                    <a:pt x="2811957" y="355"/>
                  </a:lnTo>
                  <a:lnTo>
                    <a:pt x="343433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724" y="114264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55" y="343077"/>
                  </a:moveTo>
                  <a:lnTo>
                    <a:pt x="3302" y="298278"/>
                  </a:lnTo>
                  <a:lnTo>
                    <a:pt x="12053" y="254425"/>
                  </a:lnTo>
                  <a:lnTo>
                    <a:pt x="26474" y="212057"/>
                  </a:lnTo>
                  <a:lnTo>
                    <a:pt x="46431" y="171716"/>
                  </a:lnTo>
                  <a:lnTo>
                    <a:pt x="71273" y="134316"/>
                  </a:lnTo>
                  <a:lnTo>
                    <a:pt x="100706" y="100661"/>
                  </a:lnTo>
                  <a:lnTo>
                    <a:pt x="134322" y="71123"/>
                  </a:lnTo>
                  <a:lnTo>
                    <a:pt x="171716" y="46075"/>
                  </a:lnTo>
                  <a:lnTo>
                    <a:pt x="212063" y="26119"/>
                  </a:lnTo>
                  <a:lnTo>
                    <a:pt x="254469" y="11698"/>
                  </a:lnTo>
                  <a:lnTo>
                    <a:pt x="298428" y="2946"/>
                  </a:lnTo>
                  <a:lnTo>
                    <a:pt x="343433" y="0"/>
                  </a:lnTo>
                  <a:lnTo>
                    <a:pt x="2811957" y="355"/>
                  </a:lnTo>
                  <a:lnTo>
                    <a:pt x="2856756" y="3302"/>
                  </a:lnTo>
                  <a:lnTo>
                    <a:pt x="2900610" y="12053"/>
                  </a:lnTo>
                  <a:lnTo>
                    <a:pt x="2942977" y="26474"/>
                  </a:lnTo>
                  <a:lnTo>
                    <a:pt x="2983318" y="46431"/>
                  </a:lnTo>
                  <a:lnTo>
                    <a:pt x="3020718" y="71273"/>
                  </a:lnTo>
                  <a:lnTo>
                    <a:pt x="3054373" y="100706"/>
                  </a:lnTo>
                  <a:lnTo>
                    <a:pt x="3083911" y="134322"/>
                  </a:lnTo>
                  <a:lnTo>
                    <a:pt x="3108960" y="171716"/>
                  </a:lnTo>
                  <a:lnTo>
                    <a:pt x="3128916" y="212063"/>
                  </a:lnTo>
                  <a:lnTo>
                    <a:pt x="3143337" y="254469"/>
                  </a:lnTo>
                  <a:lnTo>
                    <a:pt x="3152088" y="298428"/>
                  </a:lnTo>
                  <a:lnTo>
                    <a:pt x="3155035" y="343433"/>
                  </a:lnTo>
                  <a:lnTo>
                    <a:pt x="3155035" y="1714677"/>
                  </a:lnTo>
                  <a:lnTo>
                    <a:pt x="3152088" y="1759476"/>
                  </a:lnTo>
                  <a:lnTo>
                    <a:pt x="3143337" y="1803330"/>
                  </a:lnTo>
                  <a:lnTo>
                    <a:pt x="3128916" y="1845697"/>
                  </a:lnTo>
                  <a:lnTo>
                    <a:pt x="3108960" y="1886038"/>
                  </a:lnTo>
                  <a:lnTo>
                    <a:pt x="3084117" y="1923438"/>
                  </a:lnTo>
                  <a:lnTo>
                    <a:pt x="3054684" y="1957093"/>
                  </a:lnTo>
                  <a:lnTo>
                    <a:pt x="3021068" y="1986631"/>
                  </a:lnTo>
                  <a:lnTo>
                    <a:pt x="2983674" y="2011680"/>
                  </a:lnTo>
                  <a:lnTo>
                    <a:pt x="2943327" y="2031636"/>
                  </a:lnTo>
                  <a:lnTo>
                    <a:pt x="2900921" y="2046057"/>
                  </a:lnTo>
                  <a:lnTo>
                    <a:pt x="2856962" y="2054808"/>
                  </a:lnTo>
                  <a:lnTo>
                    <a:pt x="2811957" y="2057755"/>
                  </a:lnTo>
                  <a:lnTo>
                    <a:pt x="343077" y="2057755"/>
                  </a:lnTo>
                  <a:lnTo>
                    <a:pt x="298278" y="2054808"/>
                  </a:lnTo>
                  <a:lnTo>
                    <a:pt x="254425" y="2046057"/>
                  </a:lnTo>
                  <a:lnTo>
                    <a:pt x="212057" y="2031636"/>
                  </a:lnTo>
                  <a:lnTo>
                    <a:pt x="171716" y="2011680"/>
                  </a:lnTo>
                  <a:lnTo>
                    <a:pt x="134316" y="1986837"/>
                  </a:lnTo>
                  <a:lnTo>
                    <a:pt x="100661" y="1957404"/>
                  </a:lnTo>
                  <a:lnTo>
                    <a:pt x="71123" y="1923788"/>
                  </a:lnTo>
                  <a:lnTo>
                    <a:pt x="46075" y="1886394"/>
                  </a:lnTo>
                  <a:lnTo>
                    <a:pt x="26119" y="1846047"/>
                  </a:lnTo>
                  <a:lnTo>
                    <a:pt x="11698" y="1803641"/>
                  </a:lnTo>
                  <a:lnTo>
                    <a:pt x="2946" y="1759682"/>
                  </a:lnTo>
                  <a:lnTo>
                    <a:pt x="0" y="1714677"/>
                  </a:lnTo>
                  <a:lnTo>
                    <a:pt x="355" y="34307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17460" y="1449168"/>
            <a:ext cx="2772410" cy="131191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591820">
              <a:lnSpc>
                <a:spcPct val="100000"/>
              </a:lnSpc>
              <a:spcBef>
                <a:spcPts val="1150"/>
              </a:spcBef>
            </a:pP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1.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Chat</a:t>
            </a:r>
            <a:r>
              <a:rPr dirty="0" sz="2100" spc="-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Input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User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enters</a:t>
            </a:r>
            <a:r>
              <a:rPr dirty="0" sz="1600" spc="-1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finance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question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by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text;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voice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input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can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populate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chat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box.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15523" y="1121016"/>
            <a:ext cx="3244850" cy="2146935"/>
            <a:chOff x="4115523" y="1121016"/>
            <a:chExt cx="3244850" cy="21469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5523" y="1121016"/>
              <a:ext cx="3244316" cy="21467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60164" y="114264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43433" y="0"/>
                  </a:moveTo>
                  <a:lnTo>
                    <a:pt x="298428" y="2946"/>
                  </a:lnTo>
                  <a:lnTo>
                    <a:pt x="254469" y="11698"/>
                  </a:lnTo>
                  <a:lnTo>
                    <a:pt x="212063" y="26119"/>
                  </a:lnTo>
                  <a:lnTo>
                    <a:pt x="171716" y="46075"/>
                  </a:lnTo>
                  <a:lnTo>
                    <a:pt x="134322" y="71123"/>
                  </a:lnTo>
                  <a:lnTo>
                    <a:pt x="100667" y="100706"/>
                  </a:lnTo>
                  <a:lnTo>
                    <a:pt x="71270" y="134322"/>
                  </a:lnTo>
                  <a:lnTo>
                    <a:pt x="46431" y="171716"/>
                  </a:lnTo>
                  <a:lnTo>
                    <a:pt x="26473" y="212063"/>
                  </a:lnTo>
                  <a:lnTo>
                    <a:pt x="12045" y="254469"/>
                  </a:lnTo>
                  <a:lnTo>
                    <a:pt x="3302" y="298278"/>
                  </a:lnTo>
                  <a:lnTo>
                    <a:pt x="355" y="343077"/>
                  </a:lnTo>
                  <a:lnTo>
                    <a:pt x="0" y="1714677"/>
                  </a:lnTo>
                  <a:lnTo>
                    <a:pt x="2933" y="1759476"/>
                  </a:lnTo>
                  <a:lnTo>
                    <a:pt x="2946" y="1759682"/>
                  </a:lnTo>
                  <a:lnTo>
                    <a:pt x="11636" y="1803330"/>
                  </a:lnTo>
                  <a:lnTo>
                    <a:pt x="11698" y="1803641"/>
                  </a:lnTo>
                  <a:lnTo>
                    <a:pt x="26000" y="1845697"/>
                  </a:lnTo>
                  <a:lnTo>
                    <a:pt x="46075" y="1886394"/>
                  </a:lnTo>
                  <a:lnTo>
                    <a:pt x="71123" y="1923788"/>
                  </a:lnTo>
                  <a:lnTo>
                    <a:pt x="100661" y="1957404"/>
                  </a:lnTo>
                  <a:lnTo>
                    <a:pt x="134316" y="1986837"/>
                  </a:lnTo>
                  <a:lnTo>
                    <a:pt x="171716" y="2011680"/>
                  </a:lnTo>
                  <a:lnTo>
                    <a:pt x="212057" y="2031636"/>
                  </a:lnTo>
                  <a:lnTo>
                    <a:pt x="254425" y="2046057"/>
                  </a:lnTo>
                  <a:lnTo>
                    <a:pt x="298278" y="2054808"/>
                  </a:lnTo>
                  <a:lnTo>
                    <a:pt x="343077" y="2057755"/>
                  </a:lnTo>
                  <a:lnTo>
                    <a:pt x="2811957" y="2057755"/>
                  </a:lnTo>
                  <a:lnTo>
                    <a:pt x="2856962" y="2054808"/>
                  </a:lnTo>
                  <a:lnTo>
                    <a:pt x="2900921" y="2046057"/>
                  </a:lnTo>
                  <a:lnTo>
                    <a:pt x="2943327" y="2031636"/>
                  </a:lnTo>
                  <a:lnTo>
                    <a:pt x="2983674" y="2011680"/>
                  </a:lnTo>
                  <a:lnTo>
                    <a:pt x="3021068" y="1986631"/>
                  </a:lnTo>
                  <a:lnTo>
                    <a:pt x="3054684" y="1957093"/>
                  </a:lnTo>
                  <a:lnTo>
                    <a:pt x="3084117" y="1923438"/>
                  </a:lnTo>
                  <a:lnTo>
                    <a:pt x="3108959" y="1886038"/>
                  </a:lnTo>
                  <a:lnTo>
                    <a:pt x="3128916" y="1845697"/>
                  </a:lnTo>
                  <a:lnTo>
                    <a:pt x="3143231" y="1803641"/>
                  </a:lnTo>
                  <a:lnTo>
                    <a:pt x="3143337" y="1803330"/>
                  </a:lnTo>
                  <a:lnTo>
                    <a:pt x="3152047" y="1759682"/>
                  </a:lnTo>
                  <a:lnTo>
                    <a:pt x="3152088" y="1759476"/>
                  </a:lnTo>
                  <a:lnTo>
                    <a:pt x="3155035" y="1714677"/>
                  </a:lnTo>
                  <a:lnTo>
                    <a:pt x="3155012" y="343077"/>
                  </a:lnTo>
                  <a:lnTo>
                    <a:pt x="3152088" y="298428"/>
                  </a:lnTo>
                  <a:lnTo>
                    <a:pt x="3143337" y="254469"/>
                  </a:lnTo>
                  <a:lnTo>
                    <a:pt x="3128916" y="212063"/>
                  </a:lnTo>
                  <a:lnTo>
                    <a:pt x="3108959" y="171716"/>
                  </a:lnTo>
                  <a:lnTo>
                    <a:pt x="3083911" y="134322"/>
                  </a:lnTo>
                  <a:lnTo>
                    <a:pt x="3054373" y="100706"/>
                  </a:lnTo>
                  <a:lnTo>
                    <a:pt x="3020718" y="71273"/>
                  </a:lnTo>
                  <a:lnTo>
                    <a:pt x="2983318" y="46431"/>
                  </a:lnTo>
                  <a:lnTo>
                    <a:pt x="2942977" y="26474"/>
                  </a:lnTo>
                  <a:lnTo>
                    <a:pt x="2900610" y="12053"/>
                  </a:lnTo>
                  <a:lnTo>
                    <a:pt x="2856756" y="3302"/>
                  </a:lnTo>
                  <a:lnTo>
                    <a:pt x="2811957" y="355"/>
                  </a:lnTo>
                  <a:lnTo>
                    <a:pt x="343433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60164" y="114264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55" y="343077"/>
                  </a:moveTo>
                  <a:lnTo>
                    <a:pt x="3302" y="298278"/>
                  </a:lnTo>
                  <a:lnTo>
                    <a:pt x="12053" y="254425"/>
                  </a:lnTo>
                  <a:lnTo>
                    <a:pt x="26474" y="212057"/>
                  </a:lnTo>
                  <a:lnTo>
                    <a:pt x="46431" y="171716"/>
                  </a:lnTo>
                  <a:lnTo>
                    <a:pt x="71273" y="134316"/>
                  </a:lnTo>
                  <a:lnTo>
                    <a:pt x="100706" y="100661"/>
                  </a:lnTo>
                  <a:lnTo>
                    <a:pt x="134322" y="71123"/>
                  </a:lnTo>
                  <a:lnTo>
                    <a:pt x="171716" y="46075"/>
                  </a:lnTo>
                  <a:lnTo>
                    <a:pt x="212063" y="26119"/>
                  </a:lnTo>
                  <a:lnTo>
                    <a:pt x="254469" y="11698"/>
                  </a:lnTo>
                  <a:lnTo>
                    <a:pt x="298428" y="2946"/>
                  </a:lnTo>
                  <a:lnTo>
                    <a:pt x="343433" y="0"/>
                  </a:lnTo>
                  <a:lnTo>
                    <a:pt x="2811957" y="355"/>
                  </a:lnTo>
                  <a:lnTo>
                    <a:pt x="2856756" y="3302"/>
                  </a:lnTo>
                  <a:lnTo>
                    <a:pt x="2900610" y="12053"/>
                  </a:lnTo>
                  <a:lnTo>
                    <a:pt x="2942977" y="26474"/>
                  </a:lnTo>
                  <a:lnTo>
                    <a:pt x="2983318" y="46431"/>
                  </a:lnTo>
                  <a:lnTo>
                    <a:pt x="3020718" y="71273"/>
                  </a:lnTo>
                  <a:lnTo>
                    <a:pt x="3054373" y="100706"/>
                  </a:lnTo>
                  <a:lnTo>
                    <a:pt x="3083911" y="134322"/>
                  </a:lnTo>
                  <a:lnTo>
                    <a:pt x="3108959" y="171716"/>
                  </a:lnTo>
                  <a:lnTo>
                    <a:pt x="3128916" y="212063"/>
                  </a:lnTo>
                  <a:lnTo>
                    <a:pt x="3143337" y="254469"/>
                  </a:lnTo>
                  <a:lnTo>
                    <a:pt x="3152088" y="298428"/>
                  </a:lnTo>
                  <a:lnTo>
                    <a:pt x="3155035" y="343433"/>
                  </a:lnTo>
                  <a:lnTo>
                    <a:pt x="3155035" y="1714677"/>
                  </a:lnTo>
                  <a:lnTo>
                    <a:pt x="3152088" y="1759476"/>
                  </a:lnTo>
                  <a:lnTo>
                    <a:pt x="3143337" y="1803330"/>
                  </a:lnTo>
                  <a:lnTo>
                    <a:pt x="3128916" y="1845697"/>
                  </a:lnTo>
                  <a:lnTo>
                    <a:pt x="3108959" y="1886038"/>
                  </a:lnTo>
                  <a:lnTo>
                    <a:pt x="3084117" y="1923438"/>
                  </a:lnTo>
                  <a:lnTo>
                    <a:pt x="3054684" y="1957093"/>
                  </a:lnTo>
                  <a:lnTo>
                    <a:pt x="3021068" y="1986631"/>
                  </a:lnTo>
                  <a:lnTo>
                    <a:pt x="2983674" y="2011680"/>
                  </a:lnTo>
                  <a:lnTo>
                    <a:pt x="2943327" y="2031636"/>
                  </a:lnTo>
                  <a:lnTo>
                    <a:pt x="2900921" y="2046057"/>
                  </a:lnTo>
                  <a:lnTo>
                    <a:pt x="2856962" y="2054808"/>
                  </a:lnTo>
                  <a:lnTo>
                    <a:pt x="2811957" y="2057755"/>
                  </a:lnTo>
                  <a:lnTo>
                    <a:pt x="343077" y="2057755"/>
                  </a:lnTo>
                  <a:lnTo>
                    <a:pt x="298278" y="2054808"/>
                  </a:lnTo>
                  <a:lnTo>
                    <a:pt x="254425" y="2046057"/>
                  </a:lnTo>
                  <a:lnTo>
                    <a:pt x="212057" y="2031636"/>
                  </a:lnTo>
                  <a:lnTo>
                    <a:pt x="171716" y="2011680"/>
                  </a:lnTo>
                  <a:lnTo>
                    <a:pt x="134316" y="1986837"/>
                  </a:lnTo>
                  <a:lnTo>
                    <a:pt x="100661" y="1957404"/>
                  </a:lnTo>
                  <a:lnTo>
                    <a:pt x="71123" y="1923788"/>
                  </a:lnTo>
                  <a:lnTo>
                    <a:pt x="46075" y="1886394"/>
                  </a:lnTo>
                  <a:lnTo>
                    <a:pt x="26119" y="1846047"/>
                  </a:lnTo>
                  <a:lnTo>
                    <a:pt x="11698" y="1803641"/>
                  </a:lnTo>
                  <a:lnTo>
                    <a:pt x="2946" y="1759682"/>
                  </a:lnTo>
                  <a:lnTo>
                    <a:pt x="0" y="1714677"/>
                  </a:lnTo>
                  <a:lnTo>
                    <a:pt x="355" y="34307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337900" y="1422615"/>
            <a:ext cx="2540635" cy="149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1715" marR="5080" indent="-751205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2.</a:t>
            </a:r>
            <a:r>
              <a:rPr dirty="0" sz="2100" spc="-3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IBM</a:t>
            </a:r>
            <a:r>
              <a:rPr dirty="0" sz="2100" spc="-3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watsonx</a:t>
            </a:r>
            <a:r>
              <a:rPr dirty="0" sz="2100" spc="-10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13365E"/>
                </a:solidFill>
                <a:latin typeface="Arial"/>
                <a:cs typeface="Arial"/>
              </a:rPr>
              <a:t>AI 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Agent</a:t>
            </a:r>
            <a:endParaRPr sz="2100">
              <a:latin typeface="Arial"/>
              <a:cs typeface="Arial"/>
            </a:endParaRPr>
          </a:p>
          <a:p>
            <a:pPr marL="12700" marR="5334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Core</a:t>
            </a:r>
            <a:r>
              <a:rPr dirty="0" sz="1600" spc="-5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FinanceGuru</a:t>
            </a:r>
            <a:r>
              <a:rPr dirty="0" sz="1600" spc="-5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agent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reasons</a:t>
            </a:r>
            <a:r>
              <a:rPr dirty="0" sz="1600" spc="-1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over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query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and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produces</a:t>
            </a:r>
            <a:r>
              <a:rPr dirty="0" sz="1600" spc="-1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-1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direct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answer.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35964" y="1121016"/>
            <a:ext cx="3244850" cy="2146935"/>
            <a:chOff x="7635964" y="1121016"/>
            <a:chExt cx="3244850" cy="214693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5964" y="1121016"/>
              <a:ext cx="3244316" cy="214670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680604" y="114264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43433" y="0"/>
                  </a:moveTo>
                  <a:lnTo>
                    <a:pt x="298428" y="2946"/>
                  </a:lnTo>
                  <a:lnTo>
                    <a:pt x="254469" y="11698"/>
                  </a:lnTo>
                  <a:lnTo>
                    <a:pt x="212063" y="26119"/>
                  </a:lnTo>
                  <a:lnTo>
                    <a:pt x="171716" y="46075"/>
                  </a:lnTo>
                  <a:lnTo>
                    <a:pt x="134322" y="71123"/>
                  </a:lnTo>
                  <a:lnTo>
                    <a:pt x="100667" y="100706"/>
                  </a:lnTo>
                  <a:lnTo>
                    <a:pt x="71270" y="134322"/>
                  </a:lnTo>
                  <a:lnTo>
                    <a:pt x="46431" y="171716"/>
                  </a:lnTo>
                  <a:lnTo>
                    <a:pt x="26473" y="212063"/>
                  </a:lnTo>
                  <a:lnTo>
                    <a:pt x="12045" y="254469"/>
                  </a:lnTo>
                  <a:lnTo>
                    <a:pt x="3302" y="298278"/>
                  </a:lnTo>
                  <a:lnTo>
                    <a:pt x="355" y="343077"/>
                  </a:lnTo>
                  <a:lnTo>
                    <a:pt x="0" y="1714677"/>
                  </a:lnTo>
                  <a:lnTo>
                    <a:pt x="2933" y="1759476"/>
                  </a:lnTo>
                  <a:lnTo>
                    <a:pt x="2946" y="1759682"/>
                  </a:lnTo>
                  <a:lnTo>
                    <a:pt x="11636" y="1803330"/>
                  </a:lnTo>
                  <a:lnTo>
                    <a:pt x="26000" y="1845697"/>
                  </a:lnTo>
                  <a:lnTo>
                    <a:pt x="46075" y="1886394"/>
                  </a:lnTo>
                  <a:lnTo>
                    <a:pt x="71123" y="1923788"/>
                  </a:lnTo>
                  <a:lnTo>
                    <a:pt x="100661" y="1957404"/>
                  </a:lnTo>
                  <a:lnTo>
                    <a:pt x="134316" y="1986837"/>
                  </a:lnTo>
                  <a:lnTo>
                    <a:pt x="171716" y="2011680"/>
                  </a:lnTo>
                  <a:lnTo>
                    <a:pt x="212057" y="2031636"/>
                  </a:lnTo>
                  <a:lnTo>
                    <a:pt x="254425" y="2046057"/>
                  </a:lnTo>
                  <a:lnTo>
                    <a:pt x="298278" y="2054808"/>
                  </a:lnTo>
                  <a:lnTo>
                    <a:pt x="343077" y="2057755"/>
                  </a:lnTo>
                  <a:lnTo>
                    <a:pt x="2811957" y="2057755"/>
                  </a:lnTo>
                  <a:lnTo>
                    <a:pt x="2856962" y="2054808"/>
                  </a:lnTo>
                  <a:lnTo>
                    <a:pt x="2900921" y="2046057"/>
                  </a:lnTo>
                  <a:lnTo>
                    <a:pt x="2943327" y="2031636"/>
                  </a:lnTo>
                  <a:lnTo>
                    <a:pt x="2983674" y="2011680"/>
                  </a:lnTo>
                  <a:lnTo>
                    <a:pt x="3021068" y="1986631"/>
                  </a:lnTo>
                  <a:lnTo>
                    <a:pt x="3054684" y="1957093"/>
                  </a:lnTo>
                  <a:lnTo>
                    <a:pt x="3084117" y="1923438"/>
                  </a:lnTo>
                  <a:lnTo>
                    <a:pt x="3108959" y="1886038"/>
                  </a:lnTo>
                  <a:lnTo>
                    <a:pt x="3128916" y="1845697"/>
                  </a:lnTo>
                  <a:lnTo>
                    <a:pt x="3143231" y="1803641"/>
                  </a:lnTo>
                  <a:lnTo>
                    <a:pt x="3143337" y="1803330"/>
                  </a:lnTo>
                  <a:lnTo>
                    <a:pt x="3152047" y="1759682"/>
                  </a:lnTo>
                  <a:lnTo>
                    <a:pt x="3152088" y="1759476"/>
                  </a:lnTo>
                  <a:lnTo>
                    <a:pt x="3155035" y="1714677"/>
                  </a:lnTo>
                  <a:lnTo>
                    <a:pt x="3155012" y="343077"/>
                  </a:lnTo>
                  <a:lnTo>
                    <a:pt x="3152088" y="298428"/>
                  </a:lnTo>
                  <a:lnTo>
                    <a:pt x="3143337" y="254469"/>
                  </a:lnTo>
                  <a:lnTo>
                    <a:pt x="3128916" y="212063"/>
                  </a:lnTo>
                  <a:lnTo>
                    <a:pt x="3108959" y="171716"/>
                  </a:lnTo>
                  <a:lnTo>
                    <a:pt x="3083911" y="134322"/>
                  </a:lnTo>
                  <a:lnTo>
                    <a:pt x="3054373" y="100706"/>
                  </a:lnTo>
                  <a:lnTo>
                    <a:pt x="3020718" y="71273"/>
                  </a:lnTo>
                  <a:lnTo>
                    <a:pt x="2983318" y="46431"/>
                  </a:lnTo>
                  <a:lnTo>
                    <a:pt x="2942977" y="26474"/>
                  </a:lnTo>
                  <a:lnTo>
                    <a:pt x="2900610" y="12053"/>
                  </a:lnTo>
                  <a:lnTo>
                    <a:pt x="2856756" y="3302"/>
                  </a:lnTo>
                  <a:lnTo>
                    <a:pt x="2811957" y="355"/>
                  </a:lnTo>
                  <a:lnTo>
                    <a:pt x="343433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80604" y="114264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55" y="343077"/>
                  </a:moveTo>
                  <a:lnTo>
                    <a:pt x="3302" y="298278"/>
                  </a:lnTo>
                  <a:lnTo>
                    <a:pt x="12053" y="254425"/>
                  </a:lnTo>
                  <a:lnTo>
                    <a:pt x="26474" y="212057"/>
                  </a:lnTo>
                  <a:lnTo>
                    <a:pt x="46431" y="171716"/>
                  </a:lnTo>
                  <a:lnTo>
                    <a:pt x="71273" y="134316"/>
                  </a:lnTo>
                  <a:lnTo>
                    <a:pt x="100706" y="100661"/>
                  </a:lnTo>
                  <a:lnTo>
                    <a:pt x="134322" y="71123"/>
                  </a:lnTo>
                  <a:lnTo>
                    <a:pt x="171716" y="46075"/>
                  </a:lnTo>
                  <a:lnTo>
                    <a:pt x="212063" y="26119"/>
                  </a:lnTo>
                  <a:lnTo>
                    <a:pt x="254469" y="11698"/>
                  </a:lnTo>
                  <a:lnTo>
                    <a:pt x="298428" y="2946"/>
                  </a:lnTo>
                  <a:lnTo>
                    <a:pt x="343433" y="0"/>
                  </a:lnTo>
                  <a:lnTo>
                    <a:pt x="2811957" y="355"/>
                  </a:lnTo>
                  <a:lnTo>
                    <a:pt x="2856756" y="3302"/>
                  </a:lnTo>
                  <a:lnTo>
                    <a:pt x="2900610" y="12053"/>
                  </a:lnTo>
                  <a:lnTo>
                    <a:pt x="2942977" y="26474"/>
                  </a:lnTo>
                  <a:lnTo>
                    <a:pt x="2983318" y="46431"/>
                  </a:lnTo>
                  <a:lnTo>
                    <a:pt x="3020718" y="71273"/>
                  </a:lnTo>
                  <a:lnTo>
                    <a:pt x="3054373" y="100706"/>
                  </a:lnTo>
                  <a:lnTo>
                    <a:pt x="3083911" y="134322"/>
                  </a:lnTo>
                  <a:lnTo>
                    <a:pt x="3108959" y="171716"/>
                  </a:lnTo>
                  <a:lnTo>
                    <a:pt x="3128916" y="212063"/>
                  </a:lnTo>
                  <a:lnTo>
                    <a:pt x="3143337" y="254469"/>
                  </a:lnTo>
                  <a:lnTo>
                    <a:pt x="3152088" y="298428"/>
                  </a:lnTo>
                  <a:lnTo>
                    <a:pt x="3155035" y="343433"/>
                  </a:lnTo>
                  <a:lnTo>
                    <a:pt x="3155035" y="1714677"/>
                  </a:lnTo>
                  <a:lnTo>
                    <a:pt x="3152088" y="1759476"/>
                  </a:lnTo>
                  <a:lnTo>
                    <a:pt x="3143337" y="1803330"/>
                  </a:lnTo>
                  <a:lnTo>
                    <a:pt x="3128916" y="1845697"/>
                  </a:lnTo>
                  <a:lnTo>
                    <a:pt x="3108959" y="1886038"/>
                  </a:lnTo>
                  <a:lnTo>
                    <a:pt x="3084117" y="1923438"/>
                  </a:lnTo>
                  <a:lnTo>
                    <a:pt x="3054684" y="1957093"/>
                  </a:lnTo>
                  <a:lnTo>
                    <a:pt x="3021068" y="1986631"/>
                  </a:lnTo>
                  <a:lnTo>
                    <a:pt x="2983674" y="2011680"/>
                  </a:lnTo>
                  <a:lnTo>
                    <a:pt x="2943327" y="2031636"/>
                  </a:lnTo>
                  <a:lnTo>
                    <a:pt x="2900921" y="2046057"/>
                  </a:lnTo>
                  <a:lnTo>
                    <a:pt x="2856962" y="2054808"/>
                  </a:lnTo>
                  <a:lnTo>
                    <a:pt x="2811957" y="2057755"/>
                  </a:lnTo>
                  <a:lnTo>
                    <a:pt x="343077" y="2057755"/>
                  </a:lnTo>
                  <a:lnTo>
                    <a:pt x="298278" y="2054808"/>
                  </a:lnTo>
                  <a:lnTo>
                    <a:pt x="254425" y="2046057"/>
                  </a:lnTo>
                  <a:lnTo>
                    <a:pt x="212057" y="2031636"/>
                  </a:lnTo>
                  <a:lnTo>
                    <a:pt x="171716" y="2011680"/>
                  </a:lnTo>
                  <a:lnTo>
                    <a:pt x="134316" y="1986837"/>
                  </a:lnTo>
                  <a:lnTo>
                    <a:pt x="100661" y="1957404"/>
                  </a:lnTo>
                  <a:lnTo>
                    <a:pt x="71123" y="1923788"/>
                  </a:lnTo>
                  <a:lnTo>
                    <a:pt x="46075" y="1886394"/>
                  </a:lnTo>
                  <a:lnTo>
                    <a:pt x="26119" y="1846047"/>
                  </a:lnTo>
                  <a:lnTo>
                    <a:pt x="11698" y="1803641"/>
                  </a:lnTo>
                  <a:lnTo>
                    <a:pt x="2946" y="1759682"/>
                  </a:lnTo>
                  <a:lnTo>
                    <a:pt x="0" y="1714677"/>
                  </a:lnTo>
                  <a:lnTo>
                    <a:pt x="355" y="34307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858341" y="1327489"/>
            <a:ext cx="2400300" cy="155511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473075">
              <a:lnSpc>
                <a:spcPct val="100000"/>
              </a:lnSpc>
              <a:spcBef>
                <a:spcPts val="1150"/>
              </a:spcBef>
            </a:pP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3.</a:t>
            </a:r>
            <a:r>
              <a:rPr dirty="0" sz="2100" spc="-5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Model</a:t>
            </a:r>
            <a:r>
              <a:rPr dirty="0" sz="2100" spc="-5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Layer</a:t>
            </a:r>
            <a:endParaRPr sz="21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Current</a:t>
            </a:r>
            <a:r>
              <a:rPr dirty="0" sz="1600" spc="-4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build</a:t>
            </a:r>
            <a:r>
              <a:rPr dirty="0" sz="1600" spc="-3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screenshot: </a:t>
            </a:r>
            <a:r>
              <a:rPr dirty="0" sz="1600" spc="-40">
                <a:solidFill>
                  <a:srgbClr val="313131"/>
                </a:solidFill>
                <a:latin typeface="Microsoft Sans Serif"/>
                <a:cs typeface="Microsoft Sans Serif"/>
              </a:rPr>
              <a:t>GPT-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OSS 120B via 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Groq;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Granite</a:t>
            </a:r>
            <a:r>
              <a:rPr dirty="0" sz="1600" spc="-9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configurations</a:t>
            </a:r>
            <a:r>
              <a:rPr dirty="0" sz="1600" spc="-8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are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present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project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artifacts.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083" y="3681336"/>
            <a:ext cx="3244850" cy="2146935"/>
            <a:chOff x="595083" y="3681336"/>
            <a:chExt cx="3244850" cy="214693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3681336"/>
              <a:ext cx="3244316" cy="214670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9724" y="370296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43433" y="0"/>
                  </a:moveTo>
                  <a:lnTo>
                    <a:pt x="298428" y="2946"/>
                  </a:lnTo>
                  <a:lnTo>
                    <a:pt x="254469" y="11698"/>
                  </a:lnTo>
                  <a:lnTo>
                    <a:pt x="212063" y="26119"/>
                  </a:lnTo>
                  <a:lnTo>
                    <a:pt x="171716" y="46075"/>
                  </a:lnTo>
                  <a:lnTo>
                    <a:pt x="134322" y="71123"/>
                  </a:lnTo>
                  <a:lnTo>
                    <a:pt x="100667" y="100706"/>
                  </a:lnTo>
                  <a:lnTo>
                    <a:pt x="71270" y="134322"/>
                  </a:lnTo>
                  <a:lnTo>
                    <a:pt x="46431" y="171716"/>
                  </a:lnTo>
                  <a:lnTo>
                    <a:pt x="26473" y="212063"/>
                  </a:lnTo>
                  <a:lnTo>
                    <a:pt x="12045" y="254469"/>
                  </a:lnTo>
                  <a:lnTo>
                    <a:pt x="3302" y="298278"/>
                  </a:lnTo>
                  <a:lnTo>
                    <a:pt x="355" y="343077"/>
                  </a:lnTo>
                  <a:lnTo>
                    <a:pt x="0" y="1714677"/>
                  </a:lnTo>
                  <a:lnTo>
                    <a:pt x="2933" y="1759476"/>
                  </a:lnTo>
                  <a:lnTo>
                    <a:pt x="2946" y="1759682"/>
                  </a:lnTo>
                  <a:lnTo>
                    <a:pt x="11636" y="1803330"/>
                  </a:lnTo>
                  <a:lnTo>
                    <a:pt x="11698" y="1803641"/>
                  </a:lnTo>
                  <a:lnTo>
                    <a:pt x="26000" y="1845697"/>
                  </a:lnTo>
                  <a:lnTo>
                    <a:pt x="26119" y="1846047"/>
                  </a:lnTo>
                  <a:lnTo>
                    <a:pt x="46075" y="1886394"/>
                  </a:lnTo>
                  <a:lnTo>
                    <a:pt x="71123" y="1923788"/>
                  </a:lnTo>
                  <a:lnTo>
                    <a:pt x="100661" y="1957404"/>
                  </a:lnTo>
                  <a:lnTo>
                    <a:pt x="134316" y="1986837"/>
                  </a:lnTo>
                  <a:lnTo>
                    <a:pt x="171716" y="2011679"/>
                  </a:lnTo>
                  <a:lnTo>
                    <a:pt x="212057" y="2031636"/>
                  </a:lnTo>
                  <a:lnTo>
                    <a:pt x="254425" y="2046057"/>
                  </a:lnTo>
                  <a:lnTo>
                    <a:pt x="298278" y="2054808"/>
                  </a:lnTo>
                  <a:lnTo>
                    <a:pt x="343077" y="2057755"/>
                  </a:lnTo>
                  <a:lnTo>
                    <a:pt x="2811957" y="2057755"/>
                  </a:lnTo>
                  <a:lnTo>
                    <a:pt x="2856962" y="2054808"/>
                  </a:lnTo>
                  <a:lnTo>
                    <a:pt x="2900921" y="2046057"/>
                  </a:lnTo>
                  <a:lnTo>
                    <a:pt x="2943327" y="2031636"/>
                  </a:lnTo>
                  <a:lnTo>
                    <a:pt x="2983674" y="2011679"/>
                  </a:lnTo>
                  <a:lnTo>
                    <a:pt x="3021068" y="1986631"/>
                  </a:lnTo>
                  <a:lnTo>
                    <a:pt x="3054684" y="1957093"/>
                  </a:lnTo>
                  <a:lnTo>
                    <a:pt x="3084117" y="1923438"/>
                  </a:lnTo>
                  <a:lnTo>
                    <a:pt x="3108960" y="1886038"/>
                  </a:lnTo>
                  <a:lnTo>
                    <a:pt x="3128916" y="1845697"/>
                  </a:lnTo>
                  <a:lnTo>
                    <a:pt x="3143231" y="1803641"/>
                  </a:lnTo>
                  <a:lnTo>
                    <a:pt x="3152047" y="1759682"/>
                  </a:lnTo>
                  <a:lnTo>
                    <a:pt x="3155035" y="1714677"/>
                  </a:lnTo>
                  <a:lnTo>
                    <a:pt x="3155012" y="343077"/>
                  </a:lnTo>
                  <a:lnTo>
                    <a:pt x="3152088" y="298428"/>
                  </a:lnTo>
                  <a:lnTo>
                    <a:pt x="3143337" y="254469"/>
                  </a:lnTo>
                  <a:lnTo>
                    <a:pt x="3128916" y="212063"/>
                  </a:lnTo>
                  <a:lnTo>
                    <a:pt x="3108960" y="171716"/>
                  </a:lnTo>
                  <a:lnTo>
                    <a:pt x="3083911" y="134322"/>
                  </a:lnTo>
                  <a:lnTo>
                    <a:pt x="3054373" y="100706"/>
                  </a:lnTo>
                  <a:lnTo>
                    <a:pt x="3020718" y="71273"/>
                  </a:lnTo>
                  <a:lnTo>
                    <a:pt x="2983318" y="46431"/>
                  </a:lnTo>
                  <a:lnTo>
                    <a:pt x="2942977" y="26474"/>
                  </a:lnTo>
                  <a:lnTo>
                    <a:pt x="2900610" y="12053"/>
                  </a:lnTo>
                  <a:lnTo>
                    <a:pt x="2856756" y="3302"/>
                  </a:lnTo>
                  <a:lnTo>
                    <a:pt x="2811957" y="355"/>
                  </a:lnTo>
                  <a:lnTo>
                    <a:pt x="343433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9724" y="370296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55" y="343077"/>
                  </a:moveTo>
                  <a:lnTo>
                    <a:pt x="3302" y="298278"/>
                  </a:lnTo>
                  <a:lnTo>
                    <a:pt x="12053" y="254425"/>
                  </a:lnTo>
                  <a:lnTo>
                    <a:pt x="26474" y="212057"/>
                  </a:lnTo>
                  <a:lnTo>
                    <a:pt x="46431" y="171716"/>
                  </a:lnTo>
                  <a:lnTo>
                    <a:pt x="71273" y="134316"/>
                  </a:lnTo>
                  <a:lnTo>
                    <a:pt x="100706" y="100661"/>
                  </a:lnTo>
                  <a:lnTo>
                    <a:pt x="134322" y="71123"/>
                  </a:lnTo>
                  <a:lnTo>
                    <a:pt x="171716" y="46075"/>
                  </a:lnTo>
                  <a:lnTo>
                    <a:pt x="212063" y="26119"/>
                  </a:lnTo>
                  <a:lnTo>
                    <a:pt x="254469" y="11698"/>
                  </a:lnTo>
                  <a:lnTo>
                    <a:pt x="298428" y="2946"/>
                  </a:lnTo>
                  <a:lnTo>
                    <a:pt x="343433" y="0"/>
                  </a:lnTo>
                  <a:lnTo>
                    <a:pt x="2811957" y="355"/>
                  </a:lnTo>
                  <a:lnTo>
                    <a:pt x="2856756" y="3302"/>
                  </a:lnTo>
                  <a:lnTo>
                    <a:pt x="2900610" y="12053"/>
                  </a:lnTo>
                  <a:lnTo>
                    <a:pt x="2942977" y="26474"/>
                  </a:lnTo>
                  <a:lnTo>
                    <a:pt x="2983318" y="46431"/>
                  </a:lnTo>
                  <a:lnTo>
                    <a:pt x="3020718" y="71273"/>
                  </a:lnTo>
                  <a:lnTo>
                    <a:pt x="3054373" y="100706"/>
                  </a:lnTo>
                  <a:lnTo>
                    <a:pt x="3083911" y="134322"/>
                  </a:lnTo>
                  <a:lnTo>
                    <a:pt x="3108960" y="171716"/>
                  </a:lnTo>
                  <a:lnTo>
                    <a:pt x="3128916" y="212063"/>
                  </a:lnTo>
                  <a:lnTo>
                    <a:pt x="3143337" y="254469"/>
                  </a:lnTo>
                  <a:lnTo>
                    <a:pt x="3152088" y="298428"/>
                  </a:lnTo>
                  <a:lnTo>
                    <a:pt x="3155035" y="343433"/>
                  </a:lnTo>
                  <a:lnTo>
                    <a:pt x="3155035" y="1714677"/>
                  </a:lnTo>
                  <a:lnTo>
                    <a:pt x="3152088" y="1759476"/>
                  </a:lnTo>
                  <a:lnTo>
                    <a:pt x="3143337" y="1803330"/>
                  </a:lnTo>
                  <a:lnTo>
                    <a:pt x="3128916" y="1845697"/>
                  </a:lnTo>
                  <a:lnTo>
                    <a:pt x="3108960" y="1886038"/>
                  </a:lnTo>
                  <a:lnTo>
                    <a:pt x="3084117" y="1923438"/>
                  </a:lnTo>
                  <a:lnTo>
                    <a:pt x="3054684" y="1957093"/>
                  </a:lnTo>
                  <a:lnTo>
                    <a:pt x="3021068" y="1986631"/>
                  </a:lnTo>
                  <a:lnTo>
                    <a:pt x="2983674" y="2011679"/>
                  </a:lnTo>
                  <a:lnTo>
                    <a:pt x="2943327" y="2031636"/>
                  </a:lnTo>
                  <a:lnTo>
                    <a:pt x="2900921" y="2046057"/>
                  </a:lnTo>
                  <a:lnTo>
                    <a:pt x="2856962" y="2054808"/>
                  </a:lnTo>
                  <a:lnTo>
                    <a:pt x="2811957" y="2057755"/>
                  </a:lnTo>
                  <a:lnTo>
                    <a:pt x="343077" y="2057755"/>
                  </a:lnTo>
                  <a:lnTo>
                    <a:pt x="298278" y="2054808"/>
                  </a:lnTo>
                  <a:lnTo>
                    <a:pt x="254425" y="2046057"/>
                  </a:lnTo>
                  <a:lnTo>
                    <a:pt x="212057" y="2031636"/>
                  </a:lnTo>
                  <a:lnTo>
                    <a:pt x="171716" y="2011679"/>
                  </a:lnTo>
                  <a:lnTo>
                    <a:pt x="134316" y="1986837"/>
                  </a:lnTo>
                  <a:lnTo>
                    <a:pt x="100661" y="1957404"/>
                  </a:lnTo>
                  <a:lnTo>
                    <a:pt x="71123" y="1923788"/>
                  </a:lnTo>
                  <a:lnTo>
                    <a:pt x="46075" y="1886394"/>
                  </a:lnTo>
                  <a:lnTo>
                    <a:pt x="26119" y="1846047"/>
                  </a:lnTo>
                  <a:lnTo>
                    <a:pt x="11698" y="1803641"/>
                  </a:lnTo>
                  <a:lnTo>
                    <a:pt x="2946" y="1759682"/>
                  </a:lnTo>
                  <a:lnTo>
                    <a:pt x="0" y="1714677"/>
                  </a:lnTo>
                  <a:lnTo>
                    <a:pt x="355" y="34307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17460" y="3887809"/>
            <a:ext cx="2389505" cy="155511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481330">
              <a:lnSpc>
                <a:spcPct val="100000"/>
              </a:lnSpc>
              <a:spcBef>
                <a:spcPts val="1150"/>
              </a:spcBef>
            </a:pP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4.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Chat</a:t>
            </a:r>
            <a:r>
              <a:rPr dirty="0" sz="2100" spc="-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Output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Displays</a:t>
            </a:r>
            <a:r>
              <a:rPr dirty="0" sz="1600" spc="-6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financial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explanations,</a:t>
            </a:r>
            <a:r>
              <a:rPr dirty="0" sz="1600" spc="-9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calculations,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scam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warnings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next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steps.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15523" y="3681336"/>
            <a:ext cx="3244850" cy="2146935"/>
            <a:chOff x="4115523" y="3681336"/>
            <a:chExt cx="3244850" cy="214693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5523" y="3681336"/>
              <a:ext cx="3244316" cy="214670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160164" y="370296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43433" y="0"/>
                  </a:moveTo>
                  <a:lnTo>
                    <a:pt x="298428" y="2946"/>
                  </a:lnTo>
                  <a:lnTo>
                    <a:pt x="254469" y="11698"/>
                  </a:lnTo>
                  <a:lnTo>
                    <a:pt x="212063" y="26119"/>
                  </a:lnTo>
                  <a:lnTo>
                    <a:pt x="171716" y="46075"/>
                  </a:lnTo>
                  <a:lnTo>
                    <a:pt x="134322" y="71123"/>
                  </a:lnTo>
                  <a:lnTo>
                    <a:pt x="100667" y="100706"/>
                  </a:lnTo>
                  <a:lnTo>
                    <a:pt x="71270" y="134322"/>
                  </a:lnTo>
                  <a:lnTo>
                    <a:pt x="46431" y="171716"/>
                  </a:lnTo>
                  <a:lnTo>
                    <a:pt x="26473" y="212063"/>
                  </a:lnTo>
                  <a:lnTo>
                    <a:pt x="12045" y="254469"/>
                  </a:lnTo>
                  <a:lnTo>
                    <a:pt x="3302" y="298278"/>
                  </a:lnTo>
                  <a:lnTo>
                    <a:pt x="355" y="343077"/>
                  </a:lnTo>
                  <a:lnTo>
                    <a:pt x="0" y="1714677"/>
                  </a:lnTo>
                  <a:lnTo>
                    <a:pt x="2933" y="1759476"/>
                  </a:lnTo>
                  <a:lnTo>
                    <a:pt x="2946" y="1759682"/>
                  </a:lnTo>
                  <a:lnTo>
                    <a:pt x="11636" y="1803330"/>
                  </a:lnTo>
                  <a:lnTo>
                    <a:pt x="11698" y="1803641"/>
                  </a:lnTo>
                  <a:lnTo>
                    <a:pt x="26000" y="1845697"/>
                  </a:lnTo>
                  <a:lnTo>
                    <a:pt x="46075" y="1886394"/>
                  </a:lnTo>
                  <a:lnTo>
                    <a:pt x="71123" y="1923788"/>
                  </a:lnTo>
                  <a:lnTo>
                    <a:pt x="100661" y="1957404"/>
                  </a:lnTo>
                  <a:lnTo>
                    <a:pt x="134316" y="1986837"/>
                  </a:lnTo>
                  <a:lnTo>
                    <a:pt x="171716" y="2011679"/>
                  </a:lnTo>
                  <a:lnTo>
                    <a:pt x="212057" y="2031636"/>
                  </a:lnTo>
                  <a:lnTo>
                    <a:pt x="254425" y="2046057"/>
                  </a:lnTo>
                  <a:lnTo>
                    <a:pt x="298278" y="2054808"/>
                  </a:lnTo>
                  <a:lnTo>
                    <a:pt x="343077" y="2057755"/>
                  </a:lnTo>
                  <a:lnTo>
                    <a:pt x="2811957" y="2057755"/>
                  </a:lnTo>
                  <a:lnTo>
                    <a:pt x="2856962" y="2054808"/>
                  </a:lnTo>
                  <a:lnTo>
                    <a:pt x="2900921" y="2046057"/>
                  </a:lnTo>
                  <a:lnTo>
                    <a:pt x="2943327" y="2031636"/>
                  </a:lnTo>
                  <a:lnTo>
                    <a:pt x="2983674" y="2011679"/>
                  </a:lnTo>
                  <a:lnTo>
                    <a:pt x="3021068" y="1986631"/>
                  </a:lnTo>
                  <a:lnTo>
                    <a:pt x="3054684" y="1957093"/>
                  </a:lnTo>
                  <a:lnTo>
                    <a:pt x="3084117" y="1923438"/>
                  </a:lnTo>
                  <a:lnTo>
                    <a:pt x="3108959" y="1886038"/>
                  </a:lnTo>
                  <a:lnTo>
                    <a:pt x="3128916" y="1845697"/>
                  </a:lnTo>
                  <a:lnTo>
                    <a:pt x="3143231" y="1803641"/>
                  </a:lnTo>
                  <a:lnTo>
                    <a:pt x="3143337" y="1803330"/>
                  </a:lnTo>
                  <a:lnTo>
                    <a:pt x="3152047" y="1759682"/>
                  </a:lnTo>
                  <a:lnTo>
                    <a:pt x="3152088" y="1759476"/>
                  </a:lnTo>
                  <a:lnTo>
                    <a:pt x="3155035" y="1714677"/>
                  </a:lnTo>
                  <a:lnTo>
                    <a:pt x="3155012" y="343077"/>
                  </a:lnTo>
                  <a:lnTo>
                    <a:pt x="3152088" y="298428"/>
                  </a:lnTo>
                  <a:lnTo>
                    <a:pt x="3143337" y="254469"/>
                  </a:lnTo>
                  <a:lnTo>
                    <a:pt x="3128916" y="212063"/>
                  </a:lnTo>
                  <a:lnTo>
                    <a:pt x="3108959" y="171716"/>
                  </a:lnTo>
                  <a:lnTo>
                    <a:pt x="3083911" y="134322"/>
                  </a:lnTo>
                  <a:lnTo>
                    <a:pt x="3054373" y="100706"/>
                  </a:lnTo>
                  <a:lnTo>
                    <a:pt x="3020718" y="71273"/>
                  </a:lnTo>
                  <a:lnTo>
                    <a:pt x="2983318" y="46431"/>
                  </a:lnTo>
                  <a:lnTo>
                    <a:pt x="2942977" y="26474"/>
                  </a:lnTo>
                  <a:lnTo>
                    <a:pt x="2900610" y="12053"/>
                  </a:lnTo>
                  <a:lnTo>
                    <a:pt x="2856756" y="3302"/>
                  </a:lnTo>
                  <a:lnTo>
                    <a:pt x="2811957" y="355"/>
                  </a:lnTo>
                  <a:lnTo>
                    <a:pt x="343433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160164" y="370296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55" y="343077"/>
                  </a:moveTo>
                  <a:lnTo>
                    <a:pt x="3302" y="298278"/>
                  </a:lnTo>
                  <a:lnTo>
                    <a:pt x="12053" y="254425"/>
                  </a:lnTo>
                  <a:lnTo>
                    <a:pt x="26474" y="212057"/>
                  </a:lnTo>
                  <a:lnTo>
                    <a:pt x="46431" y="171716"/>
                  </a:lnTo>
                  <a:lnTo>
                    <a:pt x="71273" y="134316"/>
                  </a:lnTo>
                  <a:lnTo>
                    <a:pt x="100706" y="100661"/>
                  </a:lnTo>
                  <a:lnTo>
                    <a:pt x="134322" y="71123"/>
                  </a:lnTo>
                  <a:lnTo>
                    <a:pt x="171716" y="46075"/>
                  </a:lnTo>
                  <a:lnTo>
                    <a:pt x="212063" y="26119"/>
                  </a:lnTo>
                  <a:lnTo>
                    <a:pt x="254469" y="11698"/>
                  </a:lnTo>
                  <a:lnTo>
                    <a:pt x="298428" y="2946"/>
                  </a:lnTo>
                  <a:lnTo>
                    <a:pt x="343433" y="0"/>
                  </a:lnTo>
                  <a:lnTo>
                    <a:pt x="2811957" y="355"/>
                  </a:lnTo>
                  <a:lnTo>
                    <a:pt x="2856756" y="3302"/>
                  </a:lnTo>
                  <a:lnTo>
                    <a:pt x="2900610" y="12053"/>
                  </a:lnTo>
                  <a:lnTo>
                    <a:pt x="2942977" y="26474"/>
                  </a:lnTo>
                  <a:lnTo>
                    <a:pt x="2983318" y="46431"/>
                  </a:lnTo>
                  <a:lnTo>
                    <a:pt x="3020718" y="71273"/>
                  </a:lnTo>
                  <a:lnTo>
                    <a:pt x="3054373" y="100706"/>
                  </a:lnTo>
                  <a:lnTo>
                    <a:pt x="3083911" y="134322"/>
                  </a:lnTo>
                  <a:lnTo>
                    <a:pt x="3108959" y="171716"/>
                  </a:lnTo>
                  <a:lnTo>
                    <a:pt x="3128916" y="212063"/>
                  </a:lnTo>
                  <a:lnTo>
                    <a:pt x="3143337" y="254469"/>
                  </a:lnTo>
                  <a:lnTo>
                    <a:pt x="3152088" y="298428"/>
                  </a:lnTo>
                  <a:lnTo>
                    <a:pt x="3155035" y="343433"/>
                  </a:lnTo>
                  <a:lnTo>
                    <a:pt x="3155035" y="1714677"/>
                  </a:lnTo>
                  <a:lnTo>
                    <a:pt x="3152088" y="1759476"/>
                  </a:lnTo>
                  <a:lnTo>
                    <a:pt x="3143337" y="1803330"/>
                  </a:lnTo>
                  <a:lnTo>
                    <a:pt x="3128916" y="1845697"/>
                  </a:lnTo>
                  <a:lnTo>
                    <a:pt x="3108959" y="1886038"/>
                  </a:lnTo>
                  <a:lnTo>
                    <a:pt x="3084117" y="1923438"/>
                  </a:lnTo>
                  <a:lnTo>
                    <a:pt x="3054684" y="1957093"/>
                  </a:lnTo>
                  <a:lnTo>
                    <a:pt x="3021068" y="1986631"/>
                  </a:lnTo>
                  <a:lnTo>
                    <a:pt x="2983674" y="2011679"/>
                  </a:lnTo>
                  <a:lnTo>
                    <a:pt x="2943327" y="2031636"/>
                  </a:lnTo>
                  <a:lnTo>
                    <a:pt x="2900921" y="2046057"/>
                  </a:lnTo>
                  <a:lnTo>
                    <a:pt x="2856962" y="2054808"/>
                  </a:lnTo>
                  <a:lnTo>
                    <a:pt x="2811957" y="2057755"/>
                  </a:lnTo>
                  <a:lnTo>
                    <a:pt x="343077" y="2057755"/>
                  </a:lnTo>
                  <a:lnTo>
                    <a:pt x="298278" y="2054808"/>
                  </a:lnTo>
                  <a:lnTo>
                    <a:pt x="254425" y="2046057"/>
                  </a:lnTo>
                  <a:lnTo>
                    <a:pt x="212057" y="2031636"/>
                  </a:lnTo>
                  <a:lnTo>
                    <a:pt x="171716" y="2011679"/>
                  </a:lnTo>
                  <a:lnTo>
                    <a:pt x="134316" y="1986837"/>
                  </a:lnTo>
                  <a:lnTo>
                    <a:pt x="100661" y="1957404"/>
                  </a:lnTo>
                  <a:lnTo>
                    <a:pt x="71123" y="1923788"/>
                  </a:lnTo>
                  <a:lnTo>
                    <a:pt x="46075" y="1886394"/>
                  </a:lnTo>
                  <a:lnTo>
                    <a:pt x="26119" y="1846047"/>
                  </a:lnTo>
                  <a:lnTo>
                    <a:pt x="11698" y="1803641"/>
                  </a:lnTo>
                  <a:lnTo>
                    <a:pt x="2946" y="1759682"/>
                  </a:lnTo>
                  <a:lnTo>
                    <a:pt x="0" y="1714677"/>
                  </a:lnTo>
                  <a:lnTo>
                    <a:pt x="355" y="34307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337900" y="4009487"/>
            <a:ext cx="2682875" cy="131191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1150"/>
              </a:spcBef>
            </a:pP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5.</a:t>
            </a:r>
            <a:r>
              <a:rPr dirty="0" sz="2100" spc="-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Session</a:t>
            </a:r>
            <a:r>
              <a:rPr dirty="0" sz="2100" spc="-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/</a:t>
            </a:r>
            <a:r>
              <a:rPr dirty="0" sz="2100" spc="-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Thread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Flask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stores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Orchestrate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thread_id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so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conversation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can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continue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with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context.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635964" y="3681336"/>
            <a:ext cx="3244850" cy="2146935"/>
            <a:chOff x="7635964" y="3681336"/>
            <a:chExt cx="3244850" cy="214693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5964" y="3681336"/>
              <a:ext cx="3244316" cy="21467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680604" y="370296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43433" y="0"/>
                  </a:moveTo>
                  <a:lnTo>
                    <a:pt x="298428" y="2946"/>
                  </a:lnTo>
                  <a:lnTo>
                    <a:pt x="254469" y="11698"/>
                  </a:lnTo>
                  <a:lnTo>
                    <a:pt x="212063" y="26119"/>
                  </a:lnTo>
                  <a:lnTo>
                    <a:pt x="171716" y="46075"/>
                  </a:lnTo>
                  <a:lnTo>
                    <a:pt x="134322" y="71123"/>
                  </a:lnTo>
                  <a:lnTo>
                    <a:pt x="100667" y="100706"/>
                  </a:lnTo>
                  <a:lnTo>
                    <a:pt x="71270" y="134322"/>
                  </a:lnTo>
                  <a:lnTo>
                    <a:pt x="46431" y="171716"/>
                  </a:lnTo>
                  <a:lnTo>
                    <a:pt x="26473" y="212063"/>
                  </a:lnTo>
                  <a:lnTo>
                    <a:pt x="12045" y="254469"/>
                  </a:lnTo>
                  <a:lnTo>
                    <a:pt x="3302" y="298278"/>
                  </a:lnTo>
                  <a:lnTo>
                    <a:pt x="355" y="343077"/>
                  </a:lnTo>
                  <a:lnTo>
                    <a:pt x="0" y="1714677"/>
                  </a:lnTo>
                  <a:lnTo>
                    <a:pt x="2933" y="1759476"/>
                  </a:lnTo>
                  <a:lnTo>
                    <a:pt x="2946" y="1759682"/>
                  </a:lnTo>
                  <a:lnTo>
                    <a:pt x="11636" y="1803330"/>
                  </a:lnTo>
                  <a:lnTo>
                    <a:pt x="26000" y="1845697"/>
                  </a:lnTo>
                  <a:lnTo>
                    <a:pt x="46075" y="1886394"/>
                  </a:lnTo>
                  <a:lnTo>
                    <a:pt x="71123" y="1923788"/>
                  </a:lnTo>
                  <a:lnTo>
                    <a:pt x="100661" y="1957404"/>
                  </a:lnTo>
                  <a:lnTo>
                    <a:pt x="134316" y="1986837"/>
                  </a:lnTo>
                  <a:lnTo>
                    <a:pt x="171716" y="2011679"/>
                  </a:lnTo>
                  <a:lnTo>
                    <a:pt x="212057" y="2031636"/>
                  </a:lnTo>
                  <a:lnTo>
                    <a:pt x="254425" y="2046057"/>
                  </a:lnTo>
                  <a:lnTo>
                    <a:pt x="298278" y="2054808"/>
                  </a:lnTo>
                  <a:lnTo>
                    <a:pt x="343077" y="2057755"/>
                  </a:lnTo>
                  <a:lnTo>
                    <a:pt x="2811957" y="2057755"/>
                  </a:lnTo>
                  <a:lnTo>
                    <a:pt x="2856962" y="2054808"/>
                  </a:lnTo>
                  <a:lnTo>
                    <a:pt x="2900921" y="2046057"/>
                  </a:lnTo>
                  <a:lnTo>
                    <a:pt x="2943327" y="2031636"/>
                  </a:lnTo>
                  <a:lnTo>
                    <a:pt x="2983674" y="2011679"/>
                  </a:lnTo>
                  <a:lnTo>
                    <a:pt x="3021068" y="1986631"/>
                  </a:lnTo>
                  <a:lnTo>
                    <a:pt x="3054684" y="1957093"/>
                  </a:lnTo>
                  <a:lnTo>
                    <a:pt x="3084117" y="1923438"/>
                  </a:lnTo>
                  <a:lnTo>
                    <a:pt x="3108959" y="1886038"/>
                  </a:lnTo>
                  <a:lnTo>
                    <a:pt x="3128916" y="1845697"/>
                  </a:lnTo>
                  <a:lnTo>
                    <a:pt x="3143231" y="1803641"/>
                  </a:lnTo>
                  <a:lnTo>
                    <a:pt x="3143337" y="1803330"/>
                  </a:lnTo>
                  <a:lnTo>
                    <a:pt x="3152047" y="1759682"/>
                  </a:lnTo>
                  <a:lnTo>
                    <a:pt x="3152088" y="1759476"/>
                  </a:lnTo>
                  <a:lnTo>
                    <a:pt x="3155035" y="1714677"/>
                  </a:lnTo>
                  <a:lnTo>
                    <a:pt x="3155012" y="343077"/>
                  </a:lnTo>
                  <a:lnTo>
                    <a:pt x="3152088" y="298428"/>
                  </a:lnTo>
                  <a:lnTo>
                    <a:pt x="3143337" y="254469"/>
                  </a:lnTo>
                  <a:lnTo>
                    <a:pt x="3128916" y="212063"/>
                  </a:lnTo>
                  <a:lnTo>
                    <a:pt x="3108959" y="171716"/>
                  </a:lnTo>
                  <a:lnTo>
                    <a:pt x="3083911" y="134322"/>
                  </a:lnTo>
                  <a:lnTo>
                    <a:pt x="3054373" y="100706"/>
                  </a:lnTo>
                  <a:lnTo>
                    <a:pt x="3020718" y="71273"/>
                  </a:lnTo>
                  <a:lnTo>
                    <a:pt x="2983318" y="46431"/>
                  </a:lnTo>
                  <a:lnTo>
                    <a:pt x="2942977" y="26474"/>
                  </a:lnTo>
                  <a:lnTo>
                    <a:pt x="2900610" y="12053"/>
                  </a:lnTo>
                  <a:lnTo>
                    <a:pt x="2856756" y="3302"/>
                  </a:lnTo>
                  <a:lnTo>
                    <a:pt x="2811957" y="355"/>
                  </a:lnTo>
                  <a:lnTo>
                    <a:pt x="343433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680604" y="3702964"/>
              <a:ext cx="3155315" cy="2058035"/>
            </a:xfrm>
            <a:custGeom>
              <a:avLst/>
              <a:gdLst/>
              <a:ahLst/>
              <a:cxnLst/>
              <a:rect l="l" t="t" r="r" b="b"/>
              <a:pathLst>
                <a:path w="3155315" h="2058035">
                  <a:moveTo>
                    <a:pt x="355" y="343077"/>
                  </a:moveTo>
                  <a:lnTo>
                    <a:pt x="3302" y="298278"/>
                  </a:lnTo>
                  <a:lnTo>
                    <a:pt x="12053" y="254425"/>
                  </a:lnTo>
                  <a:lnTo>
                    <a:pt x="26474" y="212057"/>
                  </a:lnTo>
                  <a:lnTo>
                    <a:pt x="46431" y="171716"/>
                  </a:lnTo>
                  <a:lnTo>
                    <a:pt x="71273" y="134316"/>
                  </a:lnTo>
                  <a:lnTo>
                    <a:pt x="100706" y="100661"/>
                  </a:lnTo>
                  <a:lnTo>
                    <a:pt x="134322" y="71123"/>
                  </a:lnTo>
                  <a:lnTo>
                    <a:pt x="171716" y="46075"/>
                  </a:lnTo>
                  <a:lnTo>
                    <a:pt x="212063" y="26119"/>
                  </a:lnTo>
                  <a:lnTo>
                    <a:pt x="254469" y="11698"/>
                  </a:lnTo>
                  <a:lnTo>
                    <a:pt x="298428" y="2946"/>
                  </a:lnTo>
                  <a:lnTo>
                    <a:pt x="343433" y="0"/>
                  </a:lnTo>
                  <a:lnTo>
                    <a:pt x="2811957" y="355"/>
                  </a:lnTo>
                  <a:lnTo>
                    <a:pt x="2856756" y="3302"/>
                  </a:lnTo>
                  <a:lnTo>
                    <a:pt x="2900610" y="12053"/>
                  </a:lnTo>
                  <a:lnTo>
                    <a:pt x="2942977" y="26474"/>
                  </a:lnTo>
                  <a:lnTo>
                    <a:pt x="2983318" y="46431"/>
                  </a:lnTo>
                  <a:lnTo>
                    <a:pt x="3020718" y="71273"/>
                  </a:lnTo>
                  <a:lnTo>
                    <a:pt x="3054373" y="100706"/>
                  </a:lnTo>
                  <a:lnTo>
                    <a:pt x="3083911" y="134322"/>
                  </a:lnTo>
                  <a:lnTo>
                    <a:pt x="3108959" y="171716"/>
                  </a:lnTo>
                  <a:lnTo>
                    <a:pt x="3128916" y="212063"/>
                  </a:lnTo>
                  <a:lnTo>
                    <a:pt x="3143337" y="254469"/>
                  </a:lnTo>
                  <a:lnTo>
                    <a:pt x="3152088" y="298428"/>
                  </a:lnTo>
                  <a:lnTo>
                    <a:pt x="3155035" y="343433"/>
                  </a:lnTo>
                  <a:lnTo>
                    <a:pt x="3155035" y="1714677"/>
                  </a:lnTo>
                  <a:lnTo>
                    <a:pt x="3152088" y="1759476"/>
                  </a:lnTo>
                  <a:lnTo>
                    <a:pt x="3143337" y="1803330"/>
                  </a:lnTo>
                  <a:lnTo>
                    <a:pt x="3128916" y="1845697"/>
                  </a:lnTo>
                  <a:lnTo>
                    <a:pt x="3108959" y="1886038"/>
                  </a:lnTo>
                  <a:lnTo>
                    <a:pt x="3084117" y="1923438"/>
                  </a:lnTo>
                  <a:lnTo>
                    <a:pt x="3054684" y="1957093"/>
                  </a:lnTo>
                  <a:lnTo>
                    <a:pt x="3021068" y="1986631"/>
                  </a:lnTo>
                  <a:lnTo>
                    <a:pt x="2983674" y="2011679"/>
                  </a:lnTo>
                  <a:lnTo>
                    <a:pt x="2943327" y="2031636"/>
                  </a:lnTo>
                  <a:lnTo>
                    <a:pt x="2900921" y="2046057"/>
                  </a:lnTo>
                  <a:lnTo>
                    <a:pt x="2856962" y="2054808"/>
                  </a:lnTo>
                  <a:lnTo>
                    <a:pt x="2811957" y="2057755"/>
                  </a:lnTo>
                  <a:lnTo>
                    <a:pt x="343077" y="2057755"/>
                  </a:lnTo>
                  <a:lnTo>
                    <a:pt x="298278" y="2054808"/>
                  </a:lnTo>
                  <a:lnTo>
                    <a:pt x="254425" y="2046057"/>
                  </a:lnTo>
                  <a:lnTo>
                    <a:pt x="212057" y="2031636"/>
                  </a:lnTo>
                  <a:lnTo>
                    <a:pt x="171716" y="2011679"/>
                  </a:lnTo>
                  <a:lnTo>
                    <a:pt x="134316" y="1986837"/>
                  </a:lnTo>
                  <a:lnTo>
                    <a:pt x="100661" y="1957404"/>
                  </a:lnTo>
                  <a:lnTo>
                    <a:pt x="71123" y="1923788"/>
                  </a:lnTo>
                  <a:lnTo>
                    <a:pt x="46075" y="1886394"/>
                  </a:lnTo>
                  <a:lnTo>
                    <a:pt x="26119" y="1846047"/>
                  </a:lnTo>
                  <a:lnTo>
                    <a:pt x="11698" y="1803641"/>
                  </a:lnTo>
                  <a:lnTo>
                    <a:pt x="2946" y="1759682"/>
                  </a:lnTo>
                  <a:lnTo>
                    <a:pt x="0" y="1714677"/>
                  </a:lnTo>
                  <a:lnTo>
                    <a:pt x="355" y="34307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858341" y="4009487"/>
            <a:ext cx="2378710" cy="131191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542925">
              <a:lnSpc>
                <a:spcPct val="100000"/>
              </a:lnSpc>
              <a:spcBef>
                <a:spcPts val="1150"/>
              </a:spcBef>
            </a:pPr>
            <a:r>
              <a:rPr dirty="0" sz="2100" b="1">
                <a:solidFill>
                  <a:srgbClr val="13365E"/>
                </a:solidFill>
                <a:latin typeface="Arial"/>
                <a:cs typeface="Arial"/>
              </a:rPr>
              <a:t>6.</a:t>
            </a:r>
            <a:r>
              <a:rPr dirty="0" sz="2100" spc="-5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13365E"/>
                </a:solidFill>
                <a:latin typeface="Arial"/>
                <a:cs typeface="Arial"/>
              </a:rPr>
              <a:t>Voice</a:t>
            </a:r>
            <a:r>
              <a:rPr dirty="0" sz="2100" spc="-5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3365E"/>
                </a:solidFill>
                <a:latin typeface="Arial"/>
                <a:cs typeface="Arial"/>
              </a:rPr>
              <a:t>Input</a:t>
            </a:r>
            <a:endParaRPr sz="21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Browser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Web</a:t>
            </a:r>
            <a:r>
              <a:rPr dirty="0" sz="1600" spc="-1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Speech</a:t>
            </a:r>
            <a:r>
              <a:rPr dirty="0" sz="1600" spc="-9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API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converts</a:t>
            </a:r>
            <a:r>
              <a:rPr dirty="0" sz="1600" spc="-3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spoken</a:t>
            </a:r>
            <a:r>
              <a:rPr dirty="0" sz="1600" spc="-25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13131"/>
                </a:solidFill>
                <a:latin typeface="Microsoft Sans Serif"/>
                <a:cs typeface="Microsoft Sans Serif"/>
              </a:rPr>
              <a:t>input</a:t>
            </a:r>
            <a:r>
              <a:rPr dirty="0" sz="1600" spc="-30">
                <a:solidFill>
                  <a:srgbClr val="313131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313131"/>
                </a:solidFill>
                <a:latin typeface="Microsoft Sans Serif"/>
                <a:cs typeface="Microsoft Sans Serif"/>
              </a:rPr>
              <a:t>into </a:t>
            </a:r>
            <a:r>
              <a:rPr dirty="0" sz="1600" spc="-10">
                <a:solidFill>
                  <a:srgbClr val="313131"/>
                </a:solidFill>
                <a:latin typeface="Microsoft Sans Serif"/>
                <a:cs typeface="Microsoft Sans Serif"/>
              </a:rPr>
              <a:t>text.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421" y="310222"/>
            <a:ext cx="4859655" cy="7264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300">
                <a:solidFill>
                  <a:srgbClr val="13365E"/>
                </a:solidFill>
              </a:rPr>
              <a:t>Demo</a:t>
            </a:r>
            <a:r>
              <a:rPr dirty="0" sz="2300" spc="-2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Screenshot</a:t>
            </a:r>
            <a:r>
              <a:rPr dirty="0" sz="2300" spc="-2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1</a:t>
            </a:r>
            <a:r>
              <a:rPr dirty="0" sz="2300" spc="-2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–</a:t>
            </a:r>
            <a:r>
              <a:rPr dirty="0" sz="2300" spc="-25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IBM</a:t>
            </a:r>
            <a:r>
              <a:rPr dirty="0" sz="2300" spc="-15">
                <a:solidFill>
                  <a:srgbClr val="13365E"/>
                </a:solidFill>
              </a:rPr>
              <a:t> </a:t>
            </a:r>
            <a:r>
              <a:rPr dirty="0" sz="2300" spc="-10">
                <a:solidFill>
                  <a:srgbClr val="13365E"/>
                </a:solidFill>
              </a:rPr>
              <a:t>watsonx </a:t>
            </a:r>
            <a:r>
              <a:rPr dirty="0" sz="2300">
                <a:solidFill>
                  <a:srgbClr val="13365E"/>
                </a:solidFill>
              </a:rPr>
              <a:t>Orchestrate</a:t>
            </a:r>
            <a:r>
              <a:rPr dirty="0" sz="2300" spc="-114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Agent</a:t>
            </a:r>
            <a:r>
              <a:rPr dirty="0" sz="2300" spc="-20">
                <a:solidFill>
                  <a:srgbClr val="13365E"/>
                </a:solidFill>
              </a:rPr>
              <a:t> </a:t>
            </a:r>
            <a:r>
              <a:rPr dirty="0" sz="2300" spc="-10">
                <a:solidFill>
                  <a:srgbClr val="13365E"/>
                </a:solidFill>
              </a:rPr>
              <a:t>Configuration</a:t>
            </a:r>
            <a:endParaRPr sz="2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635" y="959751"/>
            <a:ext cx="10935716" cy="5714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>
                <a:solidFill>
                  <a:srgbClr val="13365E"/>
                </a:solidFill>
              </a:rPr>
              <a:t>Demo</a:t>
            </a:r>
            <a:r>
              <a:rPr dirty="0" sz="2300" spc="-3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Screenshot</a:t>
            </a:r>
            <a:r>
              <a:rPr dirty="0" sz="2300" spc="-25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2</a:t>
            </a:r>
            <a:r>
              <a:rPr dirty="0" sz="2300" spc="-35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–</a:t>
            </a:r>
            <a:r>
              <a:rPr dirty="0" sz="2300" spc="-3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UPI</a:t>
            </a:r>
            <a:r>
              <a:rPr dirty="0" sz="2300" spc="-3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Safety</a:t>
            </a:r>
            <a:r>
              <a:rPr dirty="0" sz="2300" spc="-30">
                <a:solidFill>
                  <a:srgbClr val="13365E"/>
                </a:solidFill>
              </a:rPr>
              <a:t> </a:t>
            </a:r>
            <a:r>
              <a:rPr dirty="0" sz="2300" spc="-10">
                <a:solidFill>
                  <a:srgbClr val="13365E"/>
                </a:solidFill>
              </a:rPr>
              <a:t>Response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1453934" y="1205534"/>
            <a:ext cx="5217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Prompt:</a:t>
            </a:r>
            <a:r>
              <a:rPr dirty="0" sz="1800" spc="-2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“How</a:t>
            </a:r>
            <a:r>
              <a:rPr dirty="0" sz="1800" spc="-2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do</a:t>
            </a:r>
            <a:r>
              <a:rPr dirty="0" sz="1800" spc="-2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I</a:t>
            </a:r>
            <a:r>
              <a:rPr dirty="0" sz="1800" spc="-2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safely</a:t>
            </a:r>
            <a:r>
              <a:rPr dirty="0" sz="1800" spc="-2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send</a:t>
            </a:r>
            <a:r>
              <a:rPr dirty="0" sz="1800" spc="-2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money</a:t>
            </a:r>
            <a:r>
              <a:rPr dirty="0" sz="1800" spc="-2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B3B3B"/>
                </a:solidFill>
                <a:latin typeface="Arial"/>
                <a:cs typeface="Arial"/>
              </a:rPr>
              <a:t>via</a:t>
            </a:r>
            <a:r>
              <a:rPr dirty="0" sz="1800" spc="-2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B3B3B"/>
                </a:solidFill>
                <a:latin typeface="Arial"/>
                <a:cs typeface="Arial"/>
              </a:rPr>
              <a:t>UPI?”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275" y="1709635"/>
            <a:ext cx="9628200" cy="496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300">
                <a:solidFill>
                  <a:srgbClr val="13365E"/>
                </a:solidFill>
              </a:rPr>
              <a:t>Demo</a:t>
            </a:r>
            <a:r>
              <a:rPr dirty="0" sz="2300" spc="-35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Screenshot</a:t>
            </a:r>
            <a:r>
              <a:rPr dirty="0" sz="2300" spc="-35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3</a:t>
            </a:r>
            <a:r>
              <a:rPr dirty="0" sz="2300" spc="-4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–</a:t>
            </a:r>
            <a:r>
              <a:rPr dirty="0" sz="2300" spc="-40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FinanceGuru</a:t>
            </a:r>
            <a:r>
              <a:rPr dirty="0" sz="2300" spc="-35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Web</a:t>
            </a:r>
            <a:r>
              <a:rPr dirty="0" sz="2300" spc="-114">
                <a:solidFill>
                  <a:srgbClr val="13365E"/>
                </a:solidFill>
              </a:rPr>
              <a:t> </a:t>
            </a:r>
            <a:r>
              <a:rPr dirty="0" sz="2300">
                <a:solidFill>
                  <a:srgbClr val="13365E"/>
                </a:solidFill>
              </a:rPr>
              <a:t>App</a:t>
            </a:r>
            <a:r>
              <a:rPr dirty="0" sz="2300" spc="-40">
                <a:solidFill>
                  <a:srgbClr val="13365E"/>
                </a:solidFill>
              </a:rPr>
              <a:t> </a:t>
            </a:r>
            <a:r>
              <a:rPr dirty="0" sz="2300" spc="-10">
                <a:solidFill>
                  <a:srgbClr val="13365E"/>
                </a:solidFill>
              </a:rPr>
              <a:t>Stock-</a:t>
            </a:r>
            <a:r>
              <a:rPr dirty="0" sz="2300">
                <a:solidFill>
                  <a:srgbClr val="13365E"/>
                </a:solidFill>
              </a:rPr>
              <a:t>Market</a:t>
            </a:r>
            <a:r>
              <a:rPr dirty="0" sz="2300" spc="-15">
                <a:solidFill>
                  <a:srgbClr val="13365E"/>
                </a:solidFill>
              </a:rPr>
              <a:t> </a:t>
            </a:r>
            <a:r>
              <a:rPr dirty="0" sz="2300" spc="-20">
                <a:solidFill>
                  <a:srgbClr val="13365E"/>
                </a:solidFill>
              </a:rPr>
              <a:t>Demo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1453934" y="1205179"/>
            <a:ext cx="690499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Example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prompt:</a:t>
            </a:r>
            <a:r>
              <a:rPr dirty="0" sz="1700" spc="-3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“How</a:t>
            </a:r>
            <a:r>
              <a:rPr dirty="0" sz="1700" spc="-3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do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I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start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investing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in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the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stock</a:t>
            </a:r>
            <a:r>
              <a:rPr dirty="0" sz="1700" spc="-35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market</a:t>
            </a:r>
            <a:r>
              <a:rPr dirty="0" sz="1700" spc="-3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B3B3B"/>
                </a:solidFill>
                <a:latin typeface="Arial"/>
                <a:cs typeface="Arial"/>
              </a:rPr>
              <a:t>as</a:t>
            </a:r>
            <a:r>
              <a:rPr dirty="0" sz="1700" spc="-30" b="1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3B3B3B"/>
                </a:solidFill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6634" y="1497534"/>
            <a:ext cx="1152525" cy="241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80"/>
              </a:lnSpc>
            </a:pPr>
            <a:r>
              <a:rPr dirty="0" sz="1700" spc="-10" b="1">
                <a:solidFill>
                  <a:srgbClr val="3B3B3B"/>
                </a:solidFill>
                <a:latin typeface="Arial"/>
                <a:cs typeface="Arial"/>
              </a:rPr>
              <a:t>beginner?”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1572475"/>
            <a:ext cx="11201044" cy="52851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74301" y="6753149"/>
            <a:ext cx="57264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Demo</a:t>
            </a:r>
            <a:r>
              <a:rPr dirty="0" sz="1100" spc="-1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flow:</a:t>
            </a:r>
            <a:r>
              <a:rPr dirty="0" sz="1100" spc="-2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user</a:t>
            </a:r>
            <a:r>
              <a:rPr dirty="0" sz="1100" spc="-1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question</a:t>
            </a:r>
            <a:r>
              <a:rPr dirty="0" sz="1100" spc="-2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-1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FinanceGuru</a:t>
            </a:r>
            <a:r>
              <a:rPr dirty="0" sz="1100" spc="-1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reasoning</a:t>
            </a:r>
            <a:r>
              <a:rPr dirty="0" sz="1100" spc="-2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-1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100" spc="-2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guidance</a:t>
            </a:r>
            <a:r>
              <a:rPr dirty="0" sz="1100" spc="-2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1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F4F4F"/>
                </a:solidFill>
                <a:latin typeface="Microsoft Sans Serif"/>
                <a:cs typeface="Microsoft Sans Serif"/>
              </a:rPr>
              <a:t>safety</a:t>
            </a:r>
            <a:r>
              <a:rPr dirty="0" sz="1100" spc="-20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4F4F4F"/>
                </a:solidFill>
                <a:latin typeface="Microsoft Sans Serif"/>
                <a:cs typeface="Microsoft Sans Serif"/>
              </a:rPr>
              <a:t>response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FinanceGuru</a:t>
            </a:r>
            <a:r>
              <a:rPr dirty="0" sz="2000" spc="-6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Web</a:t>
            </a:r>
            <a:r>
              <a:rPr dirty="0" sz="2000" spc="-6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App</a:t>
            </a:r>
            <a:r>
              <a:rPr dirty="0" sz="2000" spc="-5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·</a:t>
            </a:r>
            <a:r>
              <a:rPr dirty="0" sz="2000" spc="-5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UPI</a:t>
            </a:r>
            <a:r>
              <a:rPr dirty="0" sz="2000" spc="-5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Guidance</a:t>
            </a:r>
            <a:r>
              <a:rPr dirty="0" sz="2000" spc="-5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spc="-20" b="0">
                <a:solidFill>
                  <a:srgbClr val="0F3360"/>
                </a:solidFill>
                <a:latin typeface="Arial MT"/>
                <a:cs typeface="Arial MT"/>
              </a:rPr>
              <a:t>Demo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921" y="820419"/>
            <a:ext cx="10648277" cy="56616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FinanceGuru</a:t>
            </a:r>
            <a:r>
              <a:rPr dirty="0" sz="2000" spc="-4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Web</a:t>
            </a:r>
            <a:r>
              <a:rPr dirty="0" sz="2000" spc="-4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App</a:t>
            </a:r>
            <a:r>
              <a:rPr dirty="0" sz="2000" spc="-4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·</a:t>
            </a:r>
            <a:r>
              <a:rPr dirty="0" sz="2000" spc="-3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UPI</a:t>
            </a:r>
            <a:r>
              <a:rPr dirty="0" sz="2000" spc="-3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Limits</a:t>
            </a:r>
            <a:r>
              <a:rPr dirty="0" sz="2000" spc="-3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&amp;</a:t>
            </a:r>
            <a:r>
              <a:rPr dirty="0" sz="2000" spc="-3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Safety</a:t>
            </a:r>
            <a:r>
              <a:rPr dirty="0" sz="2000" spc="-3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0F3360"/>
                </a:solidFill>
                <a:latin typeface="Arial MT"/>
                <a:cs typeface="Arial MT"/>
              </a:rPr>
              <a:t>Guidance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921" y="820419"/>
            <a:ext cx="10648277" cy="56616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Project</a:t>
            </a:r>
            <a:r>
              <a:rPr dirty="0" sz="2000" spc="-4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Code</a:t>
            </a:r>
            <a:r>
              <a:rPr dirty="0" sz="2000" spc="-3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&amp;</a:t>
            </a:r>
            <a:r>
              <a:rPr dirty="0" sz="2000" spc="-3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Watsonx</a:t>
            </a:r>
            <a:r>
              <a:rPr dirty="0" sz="2000" spc="-3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0F3360"/>
                </a:solidFill>
                <a:latin typeface="Arial MT"/>
                <a:cs typeface="Arial MT"/>
              </a:rPr>
              <a:t>Configuration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921" y="820419"/>
            <a:ext cx="10648277" cy="56616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FinanceGuru</a:t>
            </a:r>
            <a:r>
              <a:rPr dirty="0" sz="2000" spc="-4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Architecture</a:t>
            </a:r>
            <a:r>
              <a:rPr dirty="0" sz="2000" spc="-2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/</a:t>
            </a:r>
            <a:r>
              <a:rPr dirty="0" sz="2000" spc="-25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Data</a:t>
            </a:r>
            <a:r>
              <a:rPr dirty="0" sz="2000" spc="-3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spc="-20" b="0">
                <a:solidFill>
                  <a:srgbClr val="0F3360"/>
                </a:solidFill>
                <a:latin typeface="Arial MT"/>
                <a:cs typeface="Arial MT"/>
              </a:rPr>
              <a:t>Flow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921" y="820419"/>
            <a:ext cx="10648277" cy="56616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GitHub</a:t>
            </a:r>
            <a:r>
              <a:rPr dirty="0" sz="2000" spc="-6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Repository</a:t>
            </a:r>
            <a:r>
              <a:rPr dirty="0" sz="2000" spc="-5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0F3360"/>
                </a:solidFill>
                <a:latin typeface="Arial MT"/>
                <a:cs typeface="Arial MT"/>
              </a:rPr>
              <a:t>/</a:t>
            </a:r>
            <a:r>
              <a:rPr dirty="0" sz="2000" spc="-50" b="0">
                <a:solidFill>
                  <a:srgbClr val="0F3360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0F3360"/>
                </a:solidFill>
                <a:latin typeface="Arial MT"/>
                <a:cs typeface="Arial MT"/>
              </a:rPr>
              <a:t>README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921" y="820419"/>
            <a:ext cx="10648277" cy="56616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100" y="5162550"/>
            <a:ext cx="3302000" cy="13144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4750" y="4845050"/>
            <a:ext cx="190500" cy="1631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96750" y="3105150"/>
            <a:ext cx="69850" cy="25146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6313" y="2425488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59" y="0"/>
                </a:lnTo>
              </a:path>
            </a:pathLst>
          </a:custGeom>
          <a:ln w="14816">
            <a:solidFill>
              <a:srgbClr val="0C60F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00" y="641350"/>
            <a:ext cx="8890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000" y="298450"/>
            <a:ext cx="660400" cy="101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850" y="641350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79050" y="311150"/>
            <a:ext cx="679450" cy="762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81350" y="285750"/>
            <a:ext cx="2165350" cy="1270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6600" y="228600"/>
            <a:ext cx="2470150" cy="2159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66400" y="628650"/>
            <a:ext cx="933450" cy="1270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601450" y="304800"/>
            <a:ext cx="444500" cy="825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10650" y="1276350"/>
            <a:ext cx="2679700" cy="14605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0" y="190500"/>
            <a:ext cx="12185650" cy="1339850"/>
            <a:chOff x="0" y="190500"/>
            <a:chExt cx="12185650" cy="1339850"/>
          </a:xfrm>
        </p:grpSpPr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8900" y="317500"/>
              <a:ext cx="190500" cy="889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190500"/>
              <a:ext cx="12185650" cy="1339850"/>
            </a:xfrm>
            <a:custGeom>
              <a:avLst/>
              <a:gdLst/>
              <a:ahLst/>
              <a:cxnLst/>
              <a:rect l="l" t="t" r="r" b="b"/>
              <a:pathLst>
                <a:path w="12185650" h="1339850">
                  <a:moveTo>
                    <a:pt x="12185647" y="1339849"/>
                  </a:moveTo>
                  <a:lnTo>
                    <a:pt x="0" y="1339849"/>
                  </a:lnTo>
                  <a:lnTo>
                    <a:pt x="0" y="0"/>
                  </a:lnTo>
                  <a:lnTo>
                    <a:pt x="12185647" y="0"/>
                  </a:lnTo>
                  <a:lnTo>
                    <a:pt x="12185647" y="1339849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94796" y="275695"/>
            <a:ext cx="355600" cy="1365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dirty="0" sz="700" spc="4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C6C6C6"/>
                </a:solidFill>
                <a:latin typeface="Arial MT"/>
                <a:cs typeface="Arial MT"/>
              </a:rPr>
              <a:t>Dor</a:t>
            </a:r>
            <a:r>
              <a:rPr dirty="0" sz="700" spc="17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B1B1B1"/>
                </a:solidFill>
                <a:latin typeface="Arial MT"/>
                <a:cs typeface="Arial MT"/>
              </a:rPr>
              <a:t>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9304" y="275695"/>
            <a:ext cx="227965" cy="1365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solidFill>
                  <a:srgbClr val="AFAFAF"/>
                </a:solidFill>
                <a:latin typeface="Arial MT"/>
                <a:cs typeface="Arial MT"/>
              </a:rPr>
              <a:t>F\</a:t>
            </a:r>
            <a:r>
              <a:rPr dirty="0" sz="700" spc="-20">
                <a:solidFill>
                  <a:srgbClr val="C6C6C6"/>
                </a:solidFill>
                <a:latin typeface="Arial MT"/>
                <a:cs typeface="Arial MT"/>
              </a:rPr>
              <a:t>na</a:t>
            </a:r>
            <a:r>
              <a:rPr dirty="0" sz="700" spc="-20">
                <a:solidFill>
                  <a:srgbClr val="AFAFAF"/>
                </a:solidFill>
                <a:latin typeface="Arial MT"/>
                <a:cs typeface="Arial MT"/>
              </a:rPr>
              <a:t>r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11253" y="275695"/>
            <a:ext cx="242570" cy="1365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solidFill>
                  <a:srgbClr val="C6C6C6"/>
                </a:solidFill>
                <a:latin typeface="Arial MT"/>
                <a:cs typeface="Arial MT"/>
              </a:rPr>
              <a:t>anusi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65528" y="275695"/>
            <a:ext cx="246379" cy="1365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solidFill>
                  <a:srgbClr val="C6C6C6"/>
                </a:solidFill>
                <a:latin typeface="Arial MT"/>
                <a:cs typeface="Arial MT"/>
              </a:rPr>
              <a:t>wa</a:t>
            </a:r>
            <a:r>
              <a:rPr dirty="0" sz="700" spc="-114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C6C6C6"/>
                </a:solidFill>
                <a:latin typeface="Arial MT"/>
                <a:cs typeface="Arial MT"/>
              </a:rPr>
              <a:t>Is</a:t>
            </a:r>
            <a:r>
              <a:rPr dirty="0" sz="700" spc="-25">
                <a:solidFill>
                  <a:srgbClr val="A0A0A0"/>
                </a:solidFill>
                <a:latin typeface="Arial MT"/>
                <a:cs typeface="Arial MT"/>
              </a:rPr>
              <a:t>r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3067" y="612598"/>
            <a:ext cx="292989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289CC4"/>
                </a:solidFill>
                <a:latin typeface="Arial MT"/>
                <a:cs typeface="Arial MT"/>
              </a:rPr>
              <a:t>j</a:t>
            </a:r>
            <a:r>
              <a:rPr dirty="0" sz="800">
                <a:solidFill>
                  <a:srgbClr val="D8D8D8"/>
                </a:solidFill>
                <a:latin typeface="Arial MT"/>
                <a:cs typeface="Arial MT"/>
              </a:rPr>
              <a:t>p</a:t>
            </a:r>
            <a:r>
              <a:rPr dirty="0" sz="800" spc="40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E2E2E2"/>
                </a:solidFill>
                <a:latin typeface="Arial MT"/>
                <a:cs typeface="Arial MT"/>
              </a:rPr>
              <a:t>tok.watson</a:t>
            </a:r>
            <a:r>
              <a:rPr dirty="0" sz="800" spc="47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E2E2E2"/>
                </a:solidFill>
                <a:latin typeface="Arial MT"/>
                <a:cs typeface="Arial MT"/>
              </a:rPr>
              <a:t>orchest</a:t>
            </a:r>
            <a:r>
              <a:rPr dirty="0" sz="800" spc="-7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E2E2E2"/>
                </a:solidFill>
                <a:latin typeface="Arial MT"/>
                <a:cs typeface="Arial MT"/>
              </a:rPr>
              <a:t>rate</a:t>
            </a:r>
            <a:r>
              <a:rPr dirty="0" sz="800" spc="1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E2E2E2"/>
                </a:solidFill>
                <a:latin typeface="Arial MT"/>
                <a:cs typeface="Arial MT"/>
              </a:rPr>
              <a:t>cloud.ibm</a:t>
            </a:r>
            <a:r>
              <a:rPr dirty="0" sz="800" spc="28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E2E2E2"/>
                </a:solidFill>
                <a:latin typeface="Arial MT"/>
                <a:cs typeface="Arial MT"/>
              </a:rPr>
              <a:t>com/buiId/ag</a:t>
            </a:r>
            <a:r>
              <a:rPr dirty="0" sz="800" spc="3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ent</a:t>
            </a:r>
            <a:r>
              <a:rPr dirty="0" sz="800" spc="-55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C6C6C6"/>
                </a:solidFill>
                <a:latin typeface="Arial MT"/>
                <a:cs typeface="Arial MT"/>
              </a:rPr>
              <a:t>s/anal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53880" y="612598"/>
            <a:ext cx="355028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ics/ec766a</a:t>
            </a:r>
            <a:r>
              <a:rPr dirty="0" sz="800" spc="-6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51</a:t>
            </a:r>
            <a:r>
              <a:rPr dirty="0" sz="800" spc="28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c24f</a:t>
            </a:r>
            <a:r>
              <a:rPr dirty="0" sz="800" spc="275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4b21</a:t>
            </a:r>
            <a:r>
              <a:rPr dirty="0" sz="800" spc="28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91f5</a:t>
            </a:r>
            <a:r>
              <a:rPr dirty="0" sz="800" spc="295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a2a2d4c01146*I</a:t>
            </a:r>
            <a:r>
              <a:rPr dirty="0" sz="800">
                <a:solidFill>
                  <a:srgbClr val="7E2828"/>
                </a:solidFill>
                <a:latin typeface="Arial MT"/>
                <a:cs typeface="Arial MT"/>
              </a:rPr>
              <a:t>i</a:t>
            </a:r>
            <a:r>
              <a:rPr dirty="0" sz="800">
                <a:solidFill>
                  <a:srgbClr val="BFBFBF"/>
                </a:solidFill>
                <a:latin typeface="Arial MT"/>
                <a:cs typeface="Arial MT"/>
              </a:rPr>
              <a:t>m</a:t>
            </a:r>
            <a:r>
              <a:rPr dirty="0" sz="800" spc="-12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800" spc="-60">
                <a:solidFill>
                  <a:srgbClr val="C6C6C6"/>
                </a:solidFill>
                <a:latin typeface="Arial MT"/>
                <a:cs typeface="Arial MT"/>
              </a:rPr>
              <a:t>eRa</a:t>
            </a:r>
            <a:r>
              <a:rPr dirty="0" sz="800" spc="-11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nge=</a:t>
            </a:r>
            <a:r>
              <a:rPr dirty="0" sz="800" spc="-125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past</a:t>
            </a:r>
            <a:r>
              <a:rPr dirty="0" sz="800" spc="28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C6C6C6"/>
                </a:solidFill>
                <a:latin typeface="Arial MT"/>
                <a:cs typeface="Arial MT"/>
              </a:rPr>
              <a:t>24</a:t>
            </a:r>
            <a:r>
              <a:rPr dirty="0" sz="800" spc="185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C6C6C6"/>
                </a:solidFill>
                <a:latin typeface="Arial MT"/>
                <a:cs typeface="Arial MT"/>
              </a:rPr>
              <a:t>hours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1745" y="1247775"/>
            <a:ext cx="1337945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75">
                <a:solidFill>
                  <a:srgbClr val="FFFFFF"/>
                </a:solidFill>
                <a:latin typeface="Arial MT"/>
                <a:cs typeface="Arial MT"/>
              </a:rPr>
              <a:t>TBM</a:t>
            </a:r>
            <a:r>
              <a:rPr dirty="0" sz="8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wateonx</a:t>
            </a:r>
            <a:r>
              <a:rPr dirty="0" sz="8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Orcheetrate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12893" y="1229254"/>
            <a:ext cx="37401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75">
                <a:solidFill>
                  <a:srgbClr val="FFFFFF"/>
                </a:solidFill>
                <a:latin typeface="Arial MT"/>
                <a:cs typeface="Arial MT"/>
              </a:rPr>
              <a:t>English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4950" y="2457450"/>
            <a:ext cx="196850" cy="19685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6700" y="5975350"/>
            <a:ext cx="82550" cy="508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229600" y="5708650"/>
            <a:ext cx="63500" cy="2159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40053" y="1600376"/>
            <a:ext cx="2705735" cy="7861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dirty="0" sz="900" spc="20">
                <a:solidFill>
                  <a:srgbClr val="93E2FF"/>
                </a:solidFill>
                <a:latin typeface="Calibri"/>
                <a:cs typeface="Calibri"/>
              </a:rPr>
              <a:t>Home</a:t>
            </a:r>
            <a:r>
              <a:rPr dirty="0" sz="900" spc="395">
                <a:solidFill>
                  <a:srgbClr val="93E2FF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65BAC"/>
                </a:solidFill>
                <a:latin typeface="Calibri"/>
                <a:cs typeface="Calibri"/>
              </a:rPr>
              <a:t>/</a:t>
            </a:r>
            <a:r>
              <a:rPr dirty="0" sz="900" spc="380">
                <a:solidFill>
                  <a:srgbClr val="165BAC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2D75FD"/>
                </a:solidFill>
                <a:latin typeface="Calibri"/>
                <a:cs typeface="Calibri"/>
              </a:rPr>
              <a:t>Analytics</a:t>
            </a:r>
            <a:r>
              <a:rPr dirty="0" sz="900" spc="375">
                <a:solidFill>
                  <a:srgbClr val="2D75FD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3B93E1"/>
                </a:solidFill>
                <a:latin typeface="Calibri"/>
                <a:cs typeface="Calibri"/>
              </a:rPr>
              <a:t>/</a:t>
            </a:r>
            <a:r>
              <a:rPr dirty="0" sz="900" spc="365">
                <a:solidFill>
                  <a:srgbClr val="3B93E1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61616"/>
                </a:solidFill>
                <a:latin typeface="Calibri"/>
                <a:cs typeface="Calibri"/>
              </a:rPr>
              <a:t>Digital</a:t>
            </a:r>
            <a:r>
              <a:rPr dirty="0" sz="900" spc="1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61667"/>
                </a:solidFill>
                <a:latin typeface="Calibri"/>
                <a:cs typeface="Calibri"/>
              </a:rPr>
              <a:t>Financial</a:t>
            </a:r>
            <a:r>
              <a:rPr dirty="0" sz="900" spc="35">
                <a:solidFill>
                  <a:srgbClr val="161667"/>
                </a:solidFill>
                <a:latin typeface="Calibri"/>
                <a:cs typeface="Calibri"/>
              </a:rPr>
              <a:t> </a:t>
            </a:r>
            <a:r>
              <a:rPr dirty="0" sz="900" spc="20">
                <a:solidFill>
                  <a:srgbClr val="161667"/>
                </a:solidFill>
                <a:latin typeface="Calibri"/>
                <a:cs typeface="Calibri"/>
              </a:rPr>
              <a:t>Literacy</a:t>
            </a:r>
            <a:r>
              <a:rPr dirty="0" sz="900" spc="85">
                <a:solidFill>
                  <a:srgbClr val="16166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61616"/>
                </a:solidFill>
                <a:latin typeface="Calibri"/>
                <a:cs typeface="Calibri"/>
              </a:rPr>
              <a:t>Agent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61616"/>
                </a:solidFill>
                <a:latin typeface="Cambria"/>
                <a:cs typeface="Cambria"/>
              </a:rPr>
              <a:t>Digital</a:t>
            </a:r>
            <a:r>
              <a:rPr dirty="0" sz="1000" spc="18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61616"/>
                </a:solidFill>
                <a:latin typeface="Cambria"/>
                <a:cs typeface="Cambria"/>
              </a:rPr>
              <a:t>Financial</a:t>
            </a:r>
            <a:r>
              <a:rPr dirty="0" sz="1000" spc="254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61616"/>
                </a:solidFill>
                <a:latin typeface="Cambria"/>
                <a:cs typeface="Cambria"/>
              </a:rPr>
              <a:t>Literacy</a:t>
            </a:r>
            <a:r>
              <a:rPr dirty="0" sz="1000" spc="25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1000" spc="-10">
                <a:solidFill>
                  <a:srgbClr val="161616"/>
                </a:solidFill>
                <a:latin typeface="Cambria"/>
                <a:cs typeface="Cambria"/>
              </a:rPr>
              <a:t>Agent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Cambria"/>
              <a:cs typeface="Cambria"/>
            </a:endParaRPr>
          </a:p>
          <a:p>
            <a:pPr marL="13970">
              <a:lnSpc>
                <a:spcPct val="100000"/>
              </a:lnSpc>
              <a:tabLst>
                <a:tab pos="769620" algn="l"/>
              </a:tabLst>
            </a:pPr>
            <a:r>
              <a:rPr dirty="0" sz="800" spc="50">
                <a:solidFill>
                  <a:srgbClr val="161616"/>
                </a:solidFill>
                <a:latin typeface="Cambria"/>
                <a:cs typeface="Cambria"/>
              </a:rPr>
              <a:t>Overview</a:t>
            </a:r>
            <a:r>
              <a:rPr dirty="0" sz="800">
                <a:solidFill>
                  <a:srgbClr val="161616"/>
                </a:solidFill>
                <a:latin typeface="Cambria"/>
                <a:cs typeface="Cambria"/>
              </a:rPr>
              <a:t>	</a:t>
            </a:r>
            <a:r>
              <a:rPr dirty="0" sz="800" spc="40">
                <a:solidFill>
                  <a:srgbClr val="628EC6"/>
                </a:solidFill>
                <a:latin typeface="Cambria"/>
                <a:cs typeface="Cambria"/>
              </a:rPr>
              <a:t>Conversations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3868" y="3065849"/>
            <a:ext cx="1010285" cy="4552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900">
                <a:solidFill>
                  <a:srgbClr val="52528E"/>
                </a:solidFill>
                <a:latin typeface="Cambria"/>
                <a:cs typeface="Cambria"/>
              </a:rPr>
              <a:t>Total </a:t>
            </a:r>
            <a:r>
              <a:rPr dirty="0" sz="900" spc="-10">
                <a:solidFill>
                  <a:srgbClr val="528CC6"/>
                </a:solidFill>
                <a:latin typeface="Cambria"/>
                <a:cs typeface="Cambria"/>
              </a:rPr>
              <a:t>conversations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50">
                <a:solidFill>
                  <a:srgbClr val="161616"/>
                </a:solidFill>
                <a:latin typeface="Cambria"/>
                <a:cs typeface="Cambria"/>
              </a:rPr>
              <a:t>7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8573" y="3918302"/>
            <a:ext cx="729615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75">
                <a:solidFill>
                  <a:srgbClr val="161616"/>
                </a:solidFill>
                <a:latin typeface="Cambria"/>
                <a:cs typeface="Cambria"/>
              </a:rPr>
              <a:t>Usage</a:t>
            </a:r>
            <a:r>
              <a:rPr dirty="0" sz="950" spc="3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950" spc="-10">
                <a:solidFill>
                  <a:srgbClr val="161616"/>
                </a:solidFill>
                <a:latin typeface="Cambria"/>
                <a:cs typeface="Cambria"/>
              </a:rPr>
              <a:t>trend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2437" y="5238573"/>
            <a:ext cx="8064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solidFill>
                  <a:srgbClr val="8EC8FF"/>
                </a:solidFill>
                <a:latin typeface="Cambria"/>
                <a:cs typeface="Cambria"/>
              </a:rPr>
              <a:t>6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0492" y="5791376"/>
            <a:ext cx="9207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50">
                <a:solidFill>
                  <a:srgbClr val="8E8E52"/>
                </a:solidFill>
                <a:latin typeface="Courier New"/>
                <a:cs typeface="Courier New"/>
              </a:rPr>
              <a:t>4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4366" y="6076950"/>
            <a:ext cx="231140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solidFill>
                  <a:srgbClr val="161616"/>
                </a:solidFill>
                <a:latin typeface="Consolas"/>
                <a:cs typeface="Consolas"/>
              </a:rPr>
              <a:t>#</a:t>
            </a:r>
            <a:r>
              <a:rPr dirty="0" sz="850" spc="204">
                <a:solidFill>
                  <a:srgbClr val="161616"/>
                </a:solidFill>
                <a:latin typeface="Consolas"/>
                <a:cs typeface="Consolas"/>
              </a:rPr>
              <a:t> </a:t>
            </a:r>
            <a:r>
              <a:rPr dirty="0" sz="850" spc="-50">
                <a:solidFill>
                  <a:srgbClr val="8EC8FF"/>
                </a:solidFill>
                <a:latin typeface="Consolas"/>
                <a:cs typeface="Consolas"/>
              </a:rPr>
              <a:t>3</a:t>
            </a:r>
            <a:endParaRPr sz="850">
              <a:latin typeface="Consolas"/>
              <a:cs typeface="Consola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34619" y="3073576"/>
            <a:ext cx="935355" cy="4527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040"/>
              </a:lnSpc>
              <a:spcBef>
                <a:spcPts val="120"/>
              </a:spcBef>
            </a:pPr>
            <a:r>
              <a:rPr dirty="0" sz="900">
                <a:solidFill>
                  <a:srgbClr val="5270AC"/>
                </a:solidFill>
                <a:latin typeface="Cambria"/>
                <a:cs typeface="Cambria"/>
              </a:rPr>
              <a:t>Input</a:t>
            </a:r>
            <a:r>
              <a:rPr dirty="0" sz="900" spc="95">
                <a:solidFill>
                  <a:srgbClr val="5270AC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6EAAE2"/>
                </a:solidFill>
                <a:latin typeface="Cambria"/>
                <a:cs typeface="Cambria"/>
              </a:rPr>
              <a:t>token</a:t>
            </a:r>
            <a:r>
              <a:rPr dirty="0" sz="900" spc="70">
                <a:solidFill>
                  <a:srgbClr val="6EAAE2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79B1ED"/>
                </a:solidFill>
                <a:latin typeface="Cambria"/>
                <a:cs typeface="Cambria"/>
              </a:rPr>
              <a:t>count</a:t>
            </a:r>
            <a:endParaRPr sz="900">
              <a:latin typeface="Cambria"/>
              <a:cs typeface="Cambria"/>
            </a:endParaRPr>
          </a:p>
          <a:p>
            <a:pPr marL="16510">
              <a:lnSpc>
                <a:spcPts val="2300"/>
              </a:lnSpc>
            </a:pPr>
            <a:r>
              <a:rPr dirty="0" sz="1950" spc="-10">
                <a:solidFill>
                  <a:srgbClr val="161616"/>
                </a:solidFill>
                <a:latin typeface="Cambria"/>
                <a:cs typeface="Cambria"/>
              </a:rPr>
              <a:t>25.3k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10500" y="4788429"/>
            <a:ext cx="106553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163F95"/>
                </a:solidFill>
                <a:latin typeface="Calibri"/>
                <a:cs typeface="Calibri"/>
              </a:rPr>
              <a:t>Total</a:t>
            </a:r>
            <a:r>
              <a:rPr dirty="0" sz="1000" spc="15">
                <a:solidFill>
                  <a:srgbClr val="163F95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161616"/>
                </a:solidFill>
                <a:latin typeface="Calibri"/>
                <a:cs typeface="Calibri"/>
              </a:rPr>
              <a:t>messages</a:t>
            </a:r>
            <a:r>
              <a:rPr dirty="0" sz="1000" spc="15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63B"/>
                </a:solidFill>
                <a:latin typeface="Calibri"/>
                <a:cs typeface="Calibri"/>
              </a:rPr>
              <a:t>:</a:t>
            </a:r>
            <a:r>
              <a:rPr dirty="0" sz="1000" spc="50">
                <a:solidFill>
                  <a:srgbClr val="16163B"/>
                </a:solidFill>
                <a:latin typeface="Calibri"/>
                <a:cs typeface="Calibri"/>
              </a:rPr>
              <a:t> </a:t>
            </a:r>
            <a:r>
              <a:rPr dirty="0" sz="1000" spc="5">
                <a:solidFill>
                  <a:srgbClr val="161616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7598" y="3065849"/>
            <a:ext cx="1014094" cy="4552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85"/>
              </a:spcBef>
            </a:pPr>
            <a:r>
              <a:rPr dirty="0" sz="900">
                <a:solidFill>
                  <a:srgbClr val="528CC6"/>
                </a:solidFill>
                <a:latin typeface="Cambria"/>
                <a:cs typeface="Cambria"/>
              </a:rPr>
              <a:t>Output</a:t>
            </a:r>
            <a:r>
              <a:rPr dirty="0" sz="900" spc="105">
                <a:solidFill>
                  <a:srgbClr val="528CC6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5270AC"/>
                </a:solidFill>
                <a:latin typeface="Cambria"/>
                <a:cs typeface="Cambria"/>
              </a:rPr>
              <a:t>token</a:t>
            </a:r>
            <a:r>
              <a:rPr dirty="0" sz="900" spc="45">
                <a:solidFill>
                  <a:srgbClr val="5270AC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9AC4E8"/>
                </a:solidFill>
                <a:latin typeface="Cambria"/>
                <a:cs typeface="Cambria"/>
              </a:rPr>
              <a:t>count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0">
                <a:solidFill>
                  <a:srgbClr val="161616"/>
                </a:solidFill>
                <a:latin typeface="Arial MT"/>
                <a:cs typeface="Arial MT"/>
              </a:rPr>
              <a:t>10.7k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30023" y="3918302"/>
            <a:ext cx="86868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55">
                <a:solidFill>
                  <a:srgbClr val="161616"/>
                </a:solidFill>
                <a:latin typeface="Cambria"/>
                <a:cs typeface="Cambria"/>
              </a:rPr>
              <a:t>User</a:t>
            </a:r>
            <a:r>
              <a:rPr dirty="0" sz="950" spc="1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950" spc="60">
                <a:solidFill>
                  <a:srgbClr val="161616"/>
                </a:solidFill>
                <a:latin typeface="Cambria"/>
                <a:cs typeface="Cambria"/>
              </a:rPr>
              <a:t>feedback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71454" y="5628569"/>
            <a:ext cx="52768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985">
              <a:lnSpc>
                <a:spcPts val="1830"/>
              </a:lnSpc>
              <a:spcBef>
                <a:spcPts val="105"/>
              </a:spcBef>
            </a:pPr>
            <a:r>
              <a:rPr dirty="0" sz="1550" spc="-50">
                <a:solidFill>
                  <a:srgbClr val="525252"/>
                </a:solidFill>
                <a:latin typeface="Consolas"/>
                <a:cs typeface="Consolas"/>
              </a:rPr>
              <a:t>0</a:t>
            </a:r>
            <a:endParaRPr sz="1550">
              <a:latin typeface="Consolas"/>
              <a:cs typeface="Consolas"/>
            </a:endParaRPr>
          </a:p>
          <a:p>
            <a:pPr algn="ctr">
              <a:lnSpc>
                <a:spcPts val="1170"/>
              </a:lnSpc>
            </a:pPr>
            <a:r>
              <a:rPr dirty="0" sz="1000" spc="-60">
                <a:solidFill>
                  <a:srgbClr val="525252"/>
                </a:solidFill>
                <a:latin typeface="Arial MT"/>
                <a:cs typeface="Arial MT"/>
              </a:rPr>
              <a:t>messages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14048" y="3073576"/>
            <a:ext cx="695325" cy="4552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2225">
              <a:lnSpc>
                <a:spcPts val="990"/>
              </a:lnSpc>
              <a:spcBef>
                <a:spcPts val="120"/>
              </a:spcBef>
            </a:pPr>
            <a:r>
              <a:rPr dirty="0" sz="900">
                <a:solidFill>
                  <a:srgbClr val="5285C1"/>
                </a:solidFill>
                <a:latin typeface="Cambria"/>
                <a:cs typeface="Cambria"/>
              </a:rPr>
              <a:t>Unique</a:t>
            </a:r>
            <a:r>
              <a:rPr dirty="0" sz="900" spc="55">
                <a:solidFill>
                  <a:srgbClr val="5285C1"/>
                </a:solidFill>
                <a:latin typeface="Cambria"/>
                <a:cs typeface="Cambria"/>
              </a:rPr>
              <a:t> </a:t>
            </a:r>
            <a:r>
              <a:rPr dirty="0" sz="900" spc="-10">
                <a:solidFill>
                  <a:srgbClr val="6E6052"/>
                </a:solidFill>
                <a:latin typeface="Cambria"/>
                <a:cs typeface="Cambria"/>
              </a:rPr>
              <a:t>users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ts val="2370"/>
              </a:lnSpc>
            </a:pPr>
            <a:r>
              <a:rPr dirty="0" sz="2050" spc="-50">
                <a:solidFill>
                  <a:srgbClr val="161616"/>
                </a:solidFill>
                <a:latin typeface="Courier New"/>
                <a:cs typeface="Courier New"/>
              </a:rPr>
              <a:t>2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97716" y="5625747"/>
            <a:ext cx="495934" cy="144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solidFill>
                  <a:srgbClr val="6E528E"/>
                </a:solidFill>
                <a:latin typeface="Cambria"/>
                <a:cs typeface="Cambria"/>
              </a:rPr>
              <a:t>Thumbs</a:t>
            </a:r>
            <a:r>
              <a:rPr dirty="0" sz="750" spc="10">
                <a:solidFill>
                  <a:srgbClr val="6E528E"/>
                </a:solidFill>
                <a:latin typeface="Cambria"/>
                <a:cs typeface="Cambria"/>
              </a:rPr>
              <a:t> </a:t>
            </a:r>
            <a:r>
              <a:rPr dirty="0" sz="750" spc="-35">
                <a:solidFill>
                  <a:srgbClr val="8EC8FF"/>
                </a:solidFill>
                <a:latin typeface="Cambria"/>
                <a:cs typeface="Cambria"/>
              </a:rPr>
              <a:t>up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97318" y="5854700"/>
            <a:ext cx="616585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75">
                <a:solidFill>
                  <a:srgbClr val="6E528E"/>
                </a:solidFill>
                <a:latin typeface="Cambria"/>
                <a:cs typeface="Cambria"/>
              </a:rPr>
              <a:t>Thumbs</a:t>
            </a:r>
            <a:r>
              <a:rPr dirty="0" sz="850" spc="75">
                <a:solidFill>
                  <a:srgbClr val="6E528E"/>
                </a:solidFill>
                <a:latin typeface="Cambria"/>
                <a:cs typeface="Cambria"/>
              </a:rPr>
              <a:t> </a:t>
            </a:r>
            <a:r>
              <a:rPr dirty="0" sz="850" spc="-45">
                <a:solidFill>
                  <a:srgbClr val="52528E"/>
                </a:solidFill>
                <a:latin typeface="Cambria"/>
                <a:cs typeface="Cambria"/>
              </a:rPr>
              <a:t>down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05375" y="3079750"/>
            <a:ext cx="1347470" cy="447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495">
              <a:lnSpc>
                <a:spcPts val="960"/>
              </a:lnSpc>
              <a:spcBef>
                <a:spcPts val="125"/>
              </a:spcBef>
            </a:pPr>
            <a:r>
              <a:rPr dirty="0" sz="850" spc="10">
                <a:solidFill>
                  <a:srgbClr val="525252"/>
                </a:solidFill>
                <a:latin typeface="Cambria"/>
                <a:cs typeface="Cambria"/>
              </a:rPr>
              <a:t>Avg</a:t>
            </a:r>
            <a:r>
              <a:rPr dirty="0" sz="850" spc="110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850" spc="10">
                <a:solidFill>
                  <a:srgbClr val="525252"/>
                </a:solidFill>
                <a:latin typeface="Cambria"/>
                <a:cs typeface="Cambria"/>
              </a:rPr>
              <a:t>conversation</a:t>
            </a:r>
            <a:r>
              <a:rPr dirty="0" sz="850" spc="195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850" spc="-10">
                <a:solidFill>
                  <a:srgbClr val="7E625D"/>
                </a:solidFill>
                <a:latin typeface="Cambria"/>
                <a:cs typeface="Cambria"/>
              </a:rPr>
              <a:t>duration</a:t>
            </a:r>
            <a:endParaRPr sz="850">
              <a:latin typeface="Cambria"/>
              <a:cs typeface="Cambria"/>
            </a:endParaRPr>
          </a:p>
          <a:p>
            <a:pPr marL="12700">
              <a:lnSpc>
                <a:spcPts val="2340"/>
              </a:lnSpc>
            </a:pPr>
            <a:r>
              <a:rPr dirty="0" sz="2000" spc="-25">
                <a:solidFill>
                  <a:srgbClr val="161616"/>
                </a:solidFill>
                <a:latin typeface="Courier New"/>
                <a:cs typeface="Courier New"/>
              </a:rPr>
              <a:t>52s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10335" y="3924300"/>
            <a:ext cx="636905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0">
                <a:solidFill>
                  <a:srgbClr val="161616"/>
                </a:solidFill>
                <a:latin typeface="Cambria"/>
                <a:cs typeface="Cambria"/>
              </a:rPr>
              <a:t>Evaluation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88235" y="3924300"/>
            <a:ext cx="368935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40">
                <a:solidFill>
                  <a:srgbClr val="BADAFF"/>
                </a:solidFill>
                <a:latin typeface="Cambria"/>
                <a:cs typeface="Cambria"/>
              </a:rPr>
              <a:t>Preview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73950" y="4761970"/>
            <a:ext cx="60960" cy="1365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65">
                <a:solidFill>
                  <a:srgbClr val="528EC6"/>
                </a:solidFill>
                <a:latin typeface="Cambria"/>
                <a:cs typeface="Cambria"/>
              </a:rPr>
              <a:t>1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787706" y="2495902"/>
            <a:ext cx="79121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23265" algn="l"/>
              </a:tabLst>
            </a:pPr>
            <a:r>
              <a:rPr dirty="0" sz="950" spc="-10">
                <a:solidFill>
                  <a:srgbClr val="212121"/>
                </a:solidFill>
                <a:latin typeface="Cambria"/>
                <a:cs typeface="Cambria"/>
              </a:rPr>
              <a:t>Last</a:t>
            </a:r>
            <a:r>
              <a:rPr dirty="0" sz="950" spc="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950">
                <a:solidFill>
                  <a:srgbClr val="161616"/>
                </a:solidFill>
                <a:latin typeface="Cambria"/>
                <a:cs typeface="Cambria"/>
              </a:rPr>
              <a:t>24</a:t>
            </a:r>
            <a:r>
              <a:rPr dirty="0" sz="950" spc="1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950" spc="-25">
                <a:solidFill>
                  <a:srgbClr val="212121"/>
                </a:solidFill>
                <a:latin typeface="Cambria"/>
                <a:cs typeface="Cambria"/>
              </a:rPr>
              <a:t>hrs</a:t>
            </a:r>
            <a:r>
              <a:rPr dirty="0" sz="9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950" spc="-50">
                <a:solidFill>
                  <a:srgbClr val="161616"/>
                </a:solidFill>
                <a:latin typeface="Cambria"/>
                <a:cs typeface="Cambria"/>
              </a:rPr>
              <a:t>v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183283" y="3067402"/>
            <a:ext cx="1102360" cy="460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1115">
              <a:lnSpc>
                <a:spcPts val="1070"/>
              </a:lnSpc>
              <a:spcBef>
                <a:spcPts val="120"/>
              </a:spcBef>
            </a:pPr>
            <a:r>
              <a:rPr dirty="0" sz="950">
                <a:solidFill>
                  <a:srgbClr val="676B52"/>
                </a:solidFill>
                <a:latin typeface="Calibri"/>
                <a:cs typeface="Calibri"/>
              </a:rPr>
              <a:t>Avg</a:t>
            </a:r>
            <a:r>
              <a:rPr dirty="0" sz="950" spc="40">
                <a:solidFill>
                  <a:srgbClr val="676B52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2AA6E"/>
                </a:solidFill>
                <a:latin typeface="Calibri"/>
                <a:cs typeface="Calibri"/>
              </a:rPr>
              <a:t>message</a:t>
            </a:r>
            <a:r>
              <a:rPr dirty="0" sz="950" spc="135">
                <a:solidFill>
                  <a:srgbClr val="E2AA6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EAAE2"/>
                </a:solidFill>
                <a:latin typeface="Calibri"/>
                <a:cs typeface="Calibri"/>
              </a:rPr>
              <a:t>latency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ts val="2330"/>
              </a:lnSpc>
            </a:pPr>
            <a:r>
              <a:rPr dirty="0" sz="2000" spc="-375">
                <a:solidFill>
                  <a:srgbClr val="161616"/>
                </a:solidFill>
                <a:latin typeface="Courier New"/>
                <a:cs typeface="Courier New"/>
              </a:rPr>
              <a:t>6.2s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962868" y="3924300"/>
            <a:ext cx="624205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54355" algn="l"/>
              </a:tabLst>
            </a:pPr>
            <a:r>
              <a:rPr dirty="0" sz="850" spc="-10">
                <a:solidFill>
                  <a:srgbClr val="163F95"/>
                </a:solidFill>
                <a:latin typeface="Cambria"/>
                <a:cs typeface="Cambria"/>
              </a:rPr>
              <a:t>Toxicity</a:t>
            </a:r>
            <a:r>
              <a:rPr dirty="0" sz="850">
                <a:solidFill>
                  <a:srgbClr val="163F95"/>
                </a:solidFill>
                <a:latin typeface="Cambria"/>
                <a:cs typeface="Cambria"/>
              </a:rPr>
              <a:t>	</a:t>
            </a:r>
            <a:r>
              <a:rPr dirty="0" sz="850" spc="-50">
                <a:solidFill>
                  <a:srgbClr val="161616"/>
                </a:solidFill>
                <a:latin typeface="Cambria"/>
                <a:cs typeface="Cambria"/>
              </a:rPr>
              <a:t>v</a:t>
            </a:r>
            <a:endParaRPr sz="850">
              <a:latin typeface="Cambria"/>
              <a:cs typeface="Cambri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407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13365E"/>
                </a:solidFill>
              </a:rPr>
              <a:t>Role</a:t>
            </a:r>
            <a:r>
              <a:rPr dirty="0" sz="2600" spc="-35">
                <a:solidFill>
                  <a:srgbClr val="13365E"/>
                </a:solidFill>
              </a:rPr>
              <a:t> </a:t>
            </a:r>
            <a:r>
              <a:rPr dirty="0" sz="2600">
                <a:solidFill>
                  <a:srgbClr val="13365E"/>
                </a:solidFill>
              </a:rPr>
              <a:t>of</a:t>
            </a:r>
            <a:r>
              <a:rPr dirty="0" sz="2600" spc="-120">
                <a:solidFill>
                  <a:srgbClr val="13365E"/>
                </a:solidFill>
              </a:rPr>
              <a:t> </a:t>
            </a:r>
            <a:r>
              <a:rPr dirty="0" sz="2600">
                <a:solidFill>
                  <a:srgbClr val="13365E"/>
                </a:solidFill>
              </a:rPr>
              <a:t>Agentic</a:t>
            </a:r>
            <a:r>
              <a:rPr dirty="0" sz="2600" spc="-125">
                <a:solidFill>
                  <a:srgbClr val="13365E"/>
                </a:solidFill>
              </a:rPr>
              <a:t> </a:t>
            </a:r>
            <a:r>
              <a:rPr dirty="0" sz="2600">
                <a:solidFill>
                  <a:srgbClr val="13365E"/>
                </a:solidFill>
              </a:rPr>
              <a:t>AI</a:t>
            </a:r>
            <a:r>
              <a:rPr dirty="0" sz="2600" spc="-35">
                <a:solidFill>
                  <a:srgbClr val="13365E"/>
                </a:solidFill>
              </a:rPr>
              <a:t> </a:t>
            </a:r>
            <a:r>
              <a:rPr dirty="0" sz="2600">
                <a:solidFill>
                  <a:srgbClr val="13365E"/>
                </a:solidFill>
              </a:rPr>
              <a:t>in</a:t>
            </a:r>
            <a:r>
              <a:rPr dirty="0" sz="2600" spc="-30">
                <a:solidFill>
                  <a:srgbClr val="13365E"/>
                </a:solidFill>
              </a:rPr>
              <a:t> </a:t>
            </a:r>
            <a:r>
              <a:rPr dirty="0" sz="2600">
                <a:solidFill>
                  <a:srgbClr val="13365E"/>
                </a:solidFill>
              </a:rPr>
              <a:t>the</a:t>
            </a:r>
            <a:r>
              <a:rPr dirty="0" sz="2600" spc="-35">
                <a:solidFill>
                  <a:srgbClr val="13365E"/>
                </a:solidFill>
              </a:rPr>
              <a:t> </a:t>
            </a:r>
            <a:r>
              <a:rPr dirty="0" sz="2600" spc="-10">
                <a:solidFill>
                  <a:srgbClr val="13365E"/>
                </a:solidFill>
              </a:rPr>
              <a:t>Solution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698665" y="1199781"/>
            <a:ext cx="6450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Agentic</a:t>
            </a:r>
            <a:r>
              <a:rPr dirty="0" sz="1800" spc="-10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AI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makes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FinanceGuru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more than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static FAQ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chatbot.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61035" indent="142875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dirty="0" spc="-20"/>
              <a:t>Goal-</a:t>
            </a:r>
            <a:r>
              <a:rPr dirty="0"/>
              <a:t>driven</a:t>
            </a:r>
            <a:r>
              <a:rPr dirty="0" spc="-20"/>
              <a:t> </a:t>
            </a:r>
            <a:r>
              <a:rPr dirty="0"/>
              <a:t>reasoning</a:t>
            </a:r>
            <a:r>
              <a:rPr dirty="0" spc="-15"/>
              <a:t> </a:t>
            </a:r>
            <a:r>
              <a:rPr dirty="0" spc="470"/>
              <a:t>–</a:t>
            </a:r>
            <a:r>
              <a:rPr dirty="0" spc="-15"/>
              <a:t> </a:t>
            </a:r>
            <a:r>
              <a:rPr dirty="0"/>
              <a:t>decomposes</a:t>
            </a:r>
            <a:r>
              <a:rPr dirty="0" spc="-15"/>
              <a:t> </a:t>
            </a:r>
            <a:r>
              <a:rPr dirty="0"/>
              <a:t>finance</a:t>
            </a:r>
            <a:r>
              <a:rPr dirty="0" spc="-15"/>
              <a:t> </a:t>
            </a:r>
            <a:r>
              <a:rPr dirty="0"/>
              <a:t>questions</a:t>
            </a:r>
            <a:r>
              <a:rPr dirty="0" spc="-15"/>
              <a:t> </a:t>
            </a:r>
            <a:r>
              <a:rPr dirty="0" spc="-10"/>
              <a:t>before answering.</a:t>
            </a:r>
          </a:p>
          <a:p>
            <a:pPr marL="12700" marR="777875" indent="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/>
              <a:t>Context awareness </a:t>
            </a:r>
            <a:r>
              <a:rPr dirty="0" spc="470"/>
              <a:t>–</a:t>
            </a:r>
            <a:r>
              <a:rPr dirty="0"/>
              <a:t> uses the current conversation and </a:t>
            </a:r>
            <a:r>
              <a:rPr dirty="0" spc="-10"/>
              <a:t>user-</a:t>
            </a:r>
            <a:r>
              <a:rPr dirty="0"/>
              <a:t>provided</a:t>
            </a:r>
            <a:r>
              <a:rPr dirty="0" spc="-65"/>
              <a:t> </a:t>
            </a:r>
            <a:r>
              <a:rPr dirty="0" spc="-10"/>
              <a:t>details.</a:t>
            </a:r>
          </a:p>
          <a:p>
            <a:pPr marL="12700" marR="473075" indent="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/>
              <a:t>Proactive action </a:t>
            </a:r>
            <a:r>
              <a:rPr dirty="0" spc="470"/>
              <a:t>–</a:t>
            </a:r>
            <a:r>
              <a:rPr dirty="0"/>
              <a:t> detects scam patterns and leads users </a:t>
            </a:r>
            <a:r>
              <a:rPr dirty="0" spc="-10"/>
              <a:t>toward </a:t>
            </a:r>
            <a:r>
              <a:rPr dirty="0"/>
              <a:t>official</a:t>
            </a:r>
            <a:r>
              <a:rPr dirty="0" spc="-105"/>
              <a:t> </a:t>
            </a:r>
            <a:r>
              <a:rPr dirty="0"/>
              <a:t>reporting</a:t>
            </a:r>
            <a:r>
              <a:rPr dirty="0" spc="-105"/>
              <a:t> </a:t>
            </a:r>
            <a:r>
              <a:rPr dirty="0" spc="-10"/>
              <a:t>channels.</a:t>
            </a:r>
          </a:p>
          <a:p>
            <a:pPr marL="12700" marR="5080" indent="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/>
              <a:t>Decision</a:t>
            </a:r>
            <a:r>
              <a:rPr dirty="0" spc="-5"/>
              <a:t> </a:t>
            </a:r>
            <a:r>
              <a:rPr dirty="0"/>
              <a:t>support</a:t>
            </a:r>
            <a:r>
              <a:rPr dirty="0" spc="-5"/>
              <a:t> </a:t>
            </a:r>
            <a:r>
              <a:rPr dirty="0" spc="470"/>
              <a:t>–</a:t>
            </a:r>
            <a:r>
              <a:rPr dirty="0" spc="-5"/>
              <a:t> </a:t>
            </a:r>
            <a:r>
              <a:rPr dirty="0"/>
              <a:t>compares options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performs EMI</a:t>
            </a:r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FD </a:t>
            </a:r>
            <a:r>
              <a:rPr dirty="0" spc="-10"/>
              <a:t>maturity calculations.</a:t>
            </a:r>
          </a:p>
          <a:p>
            <a:pPr marL="142875" indent="-130175">
              <a:lnSpc>
                <a:spcPct val="100000"/>
              </a:lnSpc>
              <a:buChar char="•"/>
              <a:tabLst>
                <a:tab pos="142875" algn="l"/>
              </a:tabLst>
            </a:pPr>
            <a:r>
              <a:rPr dirty="0"/>
              <a:t>Adaptive</a:t>
            </a:r>
            <a:r>
              <a:rPr dirty="0" spc="-10"/>
              <a:t> </a:t>
            </a:r>
            <a:r>
              <a:rPr dirty="0"/>
              <a:t>conversation</a:t>
            </a:r>
            <a:r>
              <a:rPr dirty="0" spc="-10"/>
              <a:t> </a:t>
            </a:r>
            <a:r>
              <a:rPr dirty="0" spc="470"/>
              <a:t>–</a:t>
            </a:r>
            <a:r>
              <a:rPr dirty="0" spc="-5"/>
              <a:t> </a:t>
            </a:r>
            <a:r>
              <a:rPr dirty="0"/>
              <a:t>keeps</a:t>
            </a:r>
            <a:r>
              <a:rPr dirty="0" spc="-10"/>
              <a:t> </a:t>
            </a:r>
            <a:r>
              <a:rPr dirty="0"/>
              <a:t>context</a:t>
            </a:r>
            <a:r>
              <a:rPr dirty="0" spc="-10"/>
              <a:t> </a:t>
            </a:r>
            <a:r>
              <a:rPr dirty="0"/>
              <a:t>using</a:t>
            </a:r>
            <a:r>
              <a:rPr dirty="0" spc="-5"/>
              <a:t> </a:t>
            </a:r>
            <a:r>
              <a:rPr dirty="0"/>
              <a:t>Orchestrate</a:t>
            </a:r>
            <a:r>
              <a:rPr dirty="0" spc="-10"/>
              <a:t> </a:t>
            </a:r>
            <a:r>
              <a:rPr dirty="0"/>
              <a:t>thread</a:t>
            </a:r>
            <a:r>
              <a:rPr dirty="0" spc="-10"/>
              <a:t> </a:t>
            </a:r>
            <a:r>
              <a:rPr dirty="0" spc="-20"/>
              <a:t>IDs.</a:t>
            </a:r>
          </a:p>
          <a:p>
            <a:pPr marL="12700" marR="523240" indent="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/>
              <a:t>Human-centered</a:t>
            </a:r>
            <a:r>
              <a:rPr dirty="0" spc="-20"/>
              <a:t> </a:t>
            </a:r>
            <a:r>
              <a:rPr dirty="0"/>
              <a:t>delivery</a:t>
            </a:r>
            <a:r>
              <a:rPr dirty="0" spc="-15"/>
              <a:t> </a:t>
            </a:r>
            <a:r>
              <a:rPr dirty="0" spc="470"/>
              <a:t>–</a:t>
            </a:r>
            <a:r>
              <a:rPr dirty="0" spc="-20"/>
              <a:t> </a:t>
            </a:r>
            <a:r>
              <a:rPr dirty="0"/>
              <a:t>explains</a:t>
            </a:r>
            <a:r>
              <a:rPr dirty="0" spc="-15"/>
              <a:t> </a:t>
            </a:r>
            <a:r>
              <a:rPr dirty="0"/>
              <a:t>financial</a:t>
            </a:r>
            <a:r>
              <a:rPr dirty="0" spc="-20"/>
              <a:t> </a:t>
            </a:r>
            <a:r>
              <a:rPr dirty="0"/>
              <a:t>concepts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10"/>
              <a:t>simple </a:t>
            </a:r>
            <a:r>
              <a:rPr dirty="0"/>
              <a:t>language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supports</a:t>
            </a:r>
            <a:r>
              <a:rPr dirty="0" spc="-20"/>
              <a:t> </a:t>
            </a:r>
            <a:r>
              <a:rPr dirty="0" spc="-10"/>
              <a:t>Hindi/English</a:t>
            </a:r>
            <a:r>
              <a:rPr dirty="0" spc="-15"/>
              <a:t> </a:t>
            </a:r>
            <a:r>
              <a:rPr dirty="0" spc="-10"/>
              <a:t>interaction.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665" y="5040261"/>
            <a:ext cx="71234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Result:</a:t>
            </a:r>
            <a:r>
              <a:rPr dirty="0" sz="1800" spc="-6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proactive,</a:t>
            </a:r>
            <a:r>
              <a:rPr dirty="0" sz="18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personalized</a:t>
            </a:r>
            <a:r>
              <a:rPr dirty="0" sz="18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8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education</a:t>
            </a:r>
            <a:r>
              <a:rPr dirty="0" sz="18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assistant</a:t>
            </a:r>
            <a:r>
              <a:rPr dirty="0" sz="1800" spc="-5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focused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safer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digital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finance.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21395" y="1212100"/>
            <a:ext cx="3016250" cy="4387215"/>
            <a:chOff x="8321395" y="1212100"/>
            <a:chExt cx="3016250" cy="43872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395" y="1212100"/>
              <a:ext cx="3015716" cy="43869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366036" y="1233716"/>
              <a:ext cx="2926715" cy="4298315"/>
            </a:xfrm>
            <a:custGeom>
              <a:avLst/>
              <a:gdLst/>
              <a:ahLst/>
              <a:cxnLst/>
              <a:rect l="l" t="t" r="r" b="b"/>
              <a:pathLst>
                <a:path w="2926715" h="4298315">
                  <a:moveTo>
                    <a:pt x="488162" y="0"/>
                  </a:moveTo>
                  <a:lnTo>
                    <a:pt x="436999" y="2701"/>
                  </a:lnTo>
                  <a:lnTo>
                    <a:pt x="386595" y="10725"/>
                  </a:lnTo>
                  <a:lnTo>
                    <a:pt x="337364" y="23950"/>
                  </a:lnTo>
                  <a:lnTo>
                    <a:pt x="289721" y="42255"/>
                  </a:lnTo>
                  <a:lnTo>
                    <a:pt x="244081" y="65519"/>
                  </a:lnTo>
                  <a:lnTo>
                    <a:pt x="201148" y="93425"/>
                  </a:lnTo>
                  <a:lnTo>
                    <a:pt x="161533" y="125527"/>
                  </a:lnTo>
                  <a:lnTo>
                    <a:pt x="125527" y="161533"/>
                  </a:lnTo>
                  <a:lnTo>
                    <a:pt x="93425" y="201148"/>
                  </a:lnTo>
                  <a:lnTo>
                    <a:pt x="65519" y="244081"/>
                  </a:lnTo>
                  <a:lnTo>
                    <a:pt x="42416" y="289721"/>
                  </a:lnTo>
                  <a:lnTo>
                    <a:pt x="24234" y="337235"/>
                  </a:lnTo>
                  <a:lnTo>
                    <a:pt x="11066" y="386359"/>
                  </a:lnTo>
                  <a:lnTo>
                    <a:pt x="3065" y="436675"/>
                  </a:lnTo>
                  <a:lnTo>
                    <a:pt x="368" y="487807"/>
                  </a:lnTo>
                  <a:lnTo>
                    <a:pt x="0" y="3810241"/>
                  </a:lnTo>
                  <a:lnTo>
                    <a:pt x="2701" y="3861410"/>
                  </a:lnTo>
                  <a:lnTo>
                    <a:pt x="10705" y="3911689"/>
                  </a:lnTo>
                  <a:lnTo>
                    <a:pt x="10725" y="3911817"/>
                  </a:lnTo>
                  <a:lnTo>
                    <a:pt x="23887" y="3960812"/>
                  </a:lnTo>
                  <a:lnTo>
                    <a:pt x="23950" y="3961048"/>
                  </a:lnTo>
                  <a:lnTo>
                    <a:pt x="42131" y="4008364"/>
                  </a:lnTo>
                  <a:lnTo>
                    <a:pt x="65519" y="4054322"/>
                  </a:lnTo>
                  <a:lnTo>
                    <a:pt x="93425" y="4097256"/>
                  </a:lnTo>
                  <a:lnTo>
                    <a:pt x="125527" y="4136874"/>
                  </a:lnTo>
                  <a:lnTo>
                    <a:pt x="161533" y="4172881"/>
                  </a:lnTo>
                  <a:lnTo>
                    <a:pt x="201148" y="4204983"/>
                  </a:lnTo>
                  <a:lnTo>
                    <a:pt x="244081" y="4232884"/>
                  </a:lnTo>
                  <a:lnTo>
                    <a:pt x="289683" y="4255974"/>
                  </a:lnTo>
                  <a:lnTo>
                    <a:pt x="337235" y="4274174"/>
                  </a:lnTo>
                  <a:lnTo>
                    <a:pt x="386359" y="4287345"/>
                  </a:lnTo>
                  <a:lnTo>
                    <a:pt x="436675" y="4295349"/>
                  </a:lnTo>
                  <a:lnTo>
                    <a:pt x="487806" y="4298048"/>
                  </a:lnTo>
                  <a:lnTo>
                    <a:pt x="2438641" y="4298048"/>
                  </a:lnTo>
                  <a:lnTo>
                    <a:pt x="2489756" y="4295349"/>
                  </a:lnTo>
                  <a:lnTo>
                    <a:pt x="2540074" y="4287345"/>
                  </a:lnTo>
                  <a:lnTo>
                    <a:pt x="2589162" y="4274174"/>
                  </a:lnTo>
                  <a:lnTo>
                    <a:pt x="2637088" y="4255792"/>
                  </a:lnTo>
                  <a:lnTo>
                    <a:pt x="2682722" y="4232529"/>
                  </a:lnTo>
                  <a:lnTo>
                    <a:pt x="2725656" y="4204623"/>
                  </a:lnTo>
                  <a:lnTo>
                    <a:pt x="2765274" y="4172520"/>
                  </a:lnTo>
                  <a:lnTo>
                    <a:pt x="2801281" y="4136515"/>
                  </a:lnTo>
                  <a:lnTo>
                    <a:pt x="2833383" y="4096899"/>
                  </a:lnTo>
                  <a:lnTo>
                    <a:pt x="2861284" y="4053967"/>
                  </a:lnTo>
                  <a:lnTo>
                    <a:pt x="2884374" y="4008364"/>
                  </a:lnTo>
                  <a:lnTo>
                    <a:pt x="2902483" y="3961048"/>
                  </a:lnTo>
                  <a:lnTo>
                    <a:pt x="2902574" y="3960812"/>
                  </a:lnTo>
                  <a:lnTo>
                    <a:pt x="2915710" y="3911817"/>
                  </a:lnTo>
                  <a:lnTo>
                    <a:pt x="2915745" y="3911689"/>
                  </a:lnTo>
                  <a:lnTo>
                    <a:pt x="2923743" y="3861410"/>
                  </a:lnTo>
                  <a:lnTo>
                    <a:pt x="2926448" y="3810241"/>
                  </a:lnTo>
                  <a:lnTo>
                    <a:pt x="2926429" y="487807"/>
                  </a:lnTo>
                  <a:lnTo>
                    <a:pt x="2923746" y="436999"/>
                  </a:lnTo>
                  <a:lnTo>
                    <a:pt x="2915722" y="386595"/>
                  </a:lnTo>
                  <a:lnTo>
                    <a:pt x="2902497" y="337364"/>
                  </a:lnTo>
                  <a:lnTo>
                    <a:pt x="2884192" y="289721"/>
                  </a:lnTo>
                  <a:lnTo>
                    <a:pt x="2860929" y="244081"/>
                  </a:lnTo>
                  <a:lnTo>
                    <a:pt x="2833023" y="201148"/>
                  </a:lnTo>
                  <a:lnTo>
                    <a:pt x="2800920" y="161533"/>
                  </a:lnTo>
                  <a:lnTo>
                    <a:pt x="2764915" y="125527"/>
                  </a:lnTo>
                  <a:lnTo>
                    <a:pt x="2725299" y="93425"/>
                  </a:lnTo>
                  <a:lnTo>
                    <a:pt x="2682366" y="65519"/>
                  </a:lnTo>
                  <a:lnTo>
                    <a:pt x="2636764" y="42430"/>
                  </a:lnTo>
                  <a:lnTo>
                    <a:pt x="2589212" y="24234"/>
                  </a:lnTo>
                  <a:lnTo>
                    <a:pt x="2540089" y="11066"/>
                  </a:lnTo>
                  <a:lnTo>
                    <a:pt x="2489772" y="3065"/>
                  </a:lnTo>
                  <a:lnTo>
                    <a:pt x="2438641" y="368"/>
                  </a:lnTo>
                  <a:lnTo>
                    <a:pt x="488162" y="0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66036" y="1233716"/>
              <a:ext cx="2926715" cy="4298315"/>
            </a:xfrm>
            <a:custGeom>
              <a:avLst/>
              <a:gdLst/>
              <a:ahLst/>
              <a:cxnLst/>
              <a:rect l="l" t="t" r="r" b="b"/>
              <a:pathLst>
                <a:path w="2926715" h="4298315">
                  <a:moveTo>
                    <a:pt x="368" y="487807"/>
                  </a:moveTo>
                  <a:lnTo>
                    <a:pt x="3065" y="436675"/>
                  </a:lnTo>
                  <a:lnTo>
                    <a:pt x="11066" y="386359"/>
                  </a:lnTo>
                  <a:lnTo>
                    <a:pt x="24234" y="337235"/>
                  </a:lnTo>
                  <a:lnTo>
                    <a:pt x="42430" y="289683"/>
                  </a:lnTo>
                  <a:lnTo>
                    <a:pt x="65519" y="244081"/>
                  </a:lnTo>
                  <a:lnTo>
                    <a:pt x="93425" y="201148"/>
                  </a:lnTo>
                  <a:lnTo>
                    <a:pt x="125527" y="161533"/>
                  </a:lnTo>
                  <a:lnTo>
                    <a:pt x="161533" y="125527"/>
                  </a:lnTo>
                  <a:lnTo>
                    <a:pt x="201148" y="93425"/>
                  </a:lnTo>
                  <a:lnTo>
                    <a:pt x="244081" y="65519"/>
                  </a:lnTo>
                  <a:lnTo>
                    <a:pt x="289721" y="42255"/>
                  </a:lnTo>
                  <a:lnTo>
                    <a:pt x="337364" y="23950"/>
                  </a:lnTo>
                  <a:lnTo>
                    <a:pt x="386595" y="10725"/>
                  </a:lnTo>
                  <a:lnTo>
                    <a:pt x="436999" y="2701"/>
                  </a:lnTo>
                  <a:lnTo>
                    <a:pt x="488162" y="0"/>
                  </a:lnTo>
                  <a:lnTo>
                    <a:pt x="2438641" y="368"/>
                  </a:lnTo>
                  <a:lnTo>
                    <a:pt x="2489772" y="3065"/>
                  </a:lnTo>
                  <a:lnTo>
                    <a:pt x="2540089" y="11066"/>
                  </a:lnTo>
                  <a:lnTo>
                    <a:pt x="2589212" y="24234"/>
                  </a:lnTo>
                  <a:lnTo>
                    <a:pt x="2636764" y="42430"/>
                  </a:lnTo>
                  <a:lnTo>
                    <a:pt x="2682366" y="65519"/>
                  </a:lnTo>
                  <a:lnTo>
                    <a:pt x="2725299" y="93425"/>
                  </a:lnTo>
                  <a:lnTo>
                    <a:pt x="2764915" y="125527"/>
                  </a:lnTo>
                  <a:lnTo>
                    <a:pt x="2800920" y="161533"/>
                  </a:lnTo>
                  <a:lnTo>
                    <a:pt x="2833023" y="201148"/>
                  </a:lnTo>
                  <a:lnTo>
                    <a:pt x="2860929" y="244081"/>
                  </a:lnTo>
                  <a:lnTo>
                    <a:pt x="2884192" y="289721"/>
                  </a:lnTo>
                  <a:lnTo>
                    <a:pt x="2902497" y="337364"/>
                  </a:lnTo>
                  <a:lnTo>
                    <a:pt x="2915722" y="386595"/>
                  </a:lnTo>
                  <a:lnTo>
                    <a:pt x="2923746" y="436999"/>
                  </a:lnTo>
                  <a:lnTo>
                    <a:pt x="2926448" y="488162"/>
                  </a:lnTo>
                  <a:lnTo>
                    <a:pt x="2926448" y="3810241"/>
                  </a:lnTo>
                  <a:lnTo>
                    <a:pt x="2923749" y="3861372"/>
                  </a:lnTo>
                  <a:lnTo>
                    <a:pt x="2915745" y="3911689"/>
                  </a:lnTo>
                  <a:lnTo>
                    <a:pt x="2902574" y="3960812"/>
                  </a:lnTo>
                  <a:lnTo>
                    <a:pt x="2884374" y="4008364"/>
                  </a:lnTo>
                  <a:lnTo>
                    <a:pt x="2861284" y="4053967"/>
                  </a:lnTo>
                  <a:lnTo>
                    <a:pt x="2833383" y="4096899"/>
                  </a:lnTo>
                  <a:lnTo>
                    <a:pt x="2801281" y="4136515"/>
                  </a:lnTo>
                  <a:lnTo>
                    <a:pt x="2765274" y="4172520"/>
                  </a:lnTo>
                  <a:lnTo>
                    <a:pt x="2725656" y="4204623"/>
                  </a:lnTo>
                  <a:lnTo>
                    <a:pt x="2682722" y="4232529"/>
                  </a:lnTo>
                  <a:lnTo>
                    <a:pt x="2637088" y="4255792"/>
                  </a:lnTo>
                  <a:lnTo>
                    <a:pt x="2589448" y="4274097"/>
                  </a:lnTo>
                  <a:lnTo>
                    <a:pt x="2540217" y="4287322"/>
                  </a:lnTo>
                  <a:lnTo>
                    <a:pt x="2489810" y="4295346"/>
                  </a:lnTo>
                  <a:lnTo>
                    <a:pt x="2438641" y="4298048"/>
                  </a:lnTo>
                  <a:lnTo>
                    <a:pt x="487806" y="4298048"/>
                  </a:lnTo>
                  <a:lnTo>
                    <a:pt x="436675" y="4295349"/>
                  </a:lnTo>
                  <a:lnTo>
                    <a:pt x="386359" y="4287345"/>
                  </a:lnTo>
                  <a:lnTo>
                    <a:pt x="337235" y="4274174"/>
                  </a:lnTo>
                  <a:lnTo>
                    <a:pt x="289683" y="4255974"/>
                  </a:lnTo>
                  <a:lnTo>
                    <a:pt x="244081" y="4232884"/>
                  </a:lnTo>
                  <a:lnTo>
                    <a:pt x="201148" y="4204983"/>
                  </a:lnTo>
                  <a:lnTo>
                    <a:pt x="161533" y="4172881"/>
                  </a:lnTo>
                  <a:lnTo>
                    <a:pt x="125527" y="4136874"/>
                  </a:lnTo>
                  <a:lnTo>
                    <a:pt x="93425" y="4097256"/>
                  </a:lnTo>
                  <a:lnTo>
                    <a:pt x="65519" y="4054322"/>
                  </a:lnTo>
                  <a:lnTo>
                    <a:pt x="42255" y="4008688"/>
                  </a:lnTo>
                  <a:lnTo>
                    <a:pt x="23950" y="3961048"/>
                  </a:lnTo>
                  <a:lnTo>
                    <a:pt x="10725" y="3911817"/>
                  </a:lnTo>
                  <a:lnTo>
                    <a:pt x="2701" y="3861410"/>
                  </a:lnTo>
                  <a:lnTo>
                    <a:pt x="0" y="3810241"/>
                  </a:lnTo>
                  <a:lnTo>
                    <a:pt x="368" y="487807"/>
                  </a:lnTo>
                  <a:close/>
                </a:path>
              </a:pathLst>
            </a:custGeom>
            <a:ln w="9359">
              <a:solidFill>
                <a:srgbClr val="498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586254" y="1359255"/>
            <a:ext cx="2074545" cy="4047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 b="1">
                <a:solidFill>
                  <a:srgbClr val="13365E"/>
                </a:solidFill>
                <a:latin typeface="Arial"/>
                <a:cs typeface="Arial"/>
              </a:rPr>
              <a:t>USER</a:t>
            </a:r>
            <a:endParaRPr sz="2200">
              <a:latin typeface="Arial"/>
              <a:cs typeface="Arial"/>
            </a:endParaRPr>
          </a:p>
          <a:p>
            <a:pPr marL="12700" marR="121920">
              <a:lnSpc>
                <a:spcPct val="100000"/>
              </a:lnSpc>
            </a:pPr>
            <a:r>
              <a:rPr dirty="0" sz="2200" spc="-50" b="1">
                <a:solidFill>
                  <a:srgbClr val="13365E"/>
                </a:solidFill>
                <a:latin typeface="Arial"/>
                <a:cs typeface="Arial"/>
              </a:rPr>
              <a:t>↓ </a:t>
            </a:r>
            <a:r>
              <a:rPr dirty="0" sz="2200" spc="-30" b="1">
                <a:solidFill>
                  <a:srgbClr val="13365E"/>
                </a:solidFill>
                <a:latin typeface="Arial"/>
                <a:cs typeface="Arial"/>
              </a:rPr>
              <a:t>UNDERSTAND</a:t>
            </a:r>
            <a:endParaRPr sz="2200">
              <a:latin typeface="Arial"/>
              <a:cs typeface="Arial"/>
            </a:endParaRPr>
          </a:p>
          <a:p>
            <a:pPr marL="12700" marR="860425">
              <a:lnSpc>
                <a:spcPts val="2640"/>
              </a:lnSpc>
              <a:spcBef>
                <a:spcPts val="85"/>
              </a:spcBef>
            </a:pPr>
            <a:r>
              <a:rPr dirty="0" sz="2200" spc="-50" b="1">
                <a:solidFill>
                  <a:srgbClr val="13365E"/>
                </a:solidFill>
                <a:latin typeface="Arial"/>
                <a:cs typeface="Arial"/>
              </a:rPr>
              <a:t>↓ </a:t>
            </a:r>
            <a:r>
              <a:rPr dirty="0" sz="2200" spc="-10" b="1">
                <a:solidFill>
                  <a:srgbClr val="13365E"/>
                </a:solidFill>
                <a:latin typeface="Arial"/>
                <a:cs typeface="Arial"/>
              </a:rPr>
              <a:t>REASON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550"/>
              </a:lnSpc>
            </a:pPr>
            <a:r>
              <a:rPr dirty="0" sz="2200" spc="-50" b="1">
                <a:solidFill>
                  <a:srgbClr val="13365E"/>
                </a:solidFill>
                <a:latin typeface="Arial"/>
                <a:cs typeface="Arial"/>
              </a:rPr>
              <a:t>↓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640"/>
              </a:lnSpc>
            </a:pPr>
            <a:r>
              <a:rPr dirty="0" sz="2200" b="1">
                <a:solidFill>
                  <a:srgbClr val="13365E"/>
                </a:solidFill>
                <a:latin typeface="Arial"/>
                <a:cs typeface="Arial"/>
              </a:rPr>
              <a:t>DETECT</a:t>
            </a:r>
            <a:r>
              <a:rPr dirty="0" sz="2200" spc="-8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13365E"/>
                </a:solidFill>
                <a:latin typeface="Arial"/>
                <a:cs typeface="Arial"/>
              </a:rPr>
              <a:t>RISK</a:t>
            </a:r>
            <a:endParaRPr sz="2200">
              <a:latin typeface="Arial"/>
              <a:cs typeface="Arial"/>
            </a:endParaRPr>
          </a:p>
          <a:p>
            <a:pPr marL="12700" marR="673735">
              <a:lnSpc>
                <a:spcPct val="100000"/>
              </a:lnSpc>
            </a:pPr>
            <a:r>
              <a:rPr dirty="0" sz="2200" spc="-50" b="1">
                <a:solidFill>
                  <a:srgbClr val="13365E"/>
                </a:solidFill>
                <a:latin typeface="Arial"/>
                <a:cs typeface="Arial"/>
              </a:rPr>
              <a:t>↓ </a:t>
            </a:r>
            <a:r>
              <a:rPr dirty="0" sz="2200" spc="-10" b="1">
                <a:solidFill>
                  <a:srgbClr val="13365E"/>
                </a:solidFill>
                <a:latin typeface="Arial"/>
                <a:cs typeface="Arial"/>
              </a:rPr>
              <a:t>RESPOND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640"/>
              </a:lnSpc>
            </a:pPr>
            <a:r>
              <a:rPr dirty="0" sz="2200" spc="-50" b="1">
                <a:solidFill>
                  <a:srgbClr val="13365E"/>
                </a:solidFill>
                <a:latin typeface="Arial"/>
                <a:cs typeface="Arial"/>
              </a:rPr>
              <a:t>↓</a:t>
            </a:r>
            <a:endParaRPr sz="2200">
              <a:latin typeface="Arial"/>
              <a:cs typeface="Arial"/>
            </a:endParaRPr>
          </a:p>
          <a:p>
            <a:pPr marL="739140" marR="5080" indent="-315595">
              <a:lnSpc>
                <a:spcPct val="100000"/>
              </a:lnSpc>
            </a:pPr>
            <a:r>
              <a:rPr dirty="0" sz="2200" spc="-20" b="1">
                <a:solidFill>
                  <a:srgbClr val="13365E"/>
                </a:solidFill>
                <a:latin typeface="Arial"/>
                <a:cs typeface="Arial"/>
              </a:rPr>
              <a:t>ESCALATE</a:t>
            </a:r>
            <a:r>
              <a:rPr dirty="0" sz="2200" spc="-9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13365E"/>
                </a:solidFill>
                <a:latin typeface="Arial"/>
                <a:cs typeface="Arial"/>
              </a:rPr>
              <a:t>/ </a:t>
            </a:r>
            <a:r>
              <a:rPr dirty="0" sz="2200" spc="-10" b="1">
                <a:solidFill>
                  <a:srgbClr val="13365E"/>
                </a:solidFill>
                <a:latin typeface="Arial"/>
                <a:cs typeface="Arial"/>
              </a:rPr>
              <a:t>VERIFY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31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3365E"/>
                </a:solidFill>
              </a:rPr>
              <a:t>Novelty</a:t>
            </a:r>
            <a:r>
              <a:rPr dirty="0" sz="2700" spc="-25">
                <a:solidFill>
                  <a:srgbClr val="13365E"/>
                </a:solidFill>
              </a:rPr>
              <a:t> </a:t>
            </a:r>
            <a:r>
              <a:rPr dirty="0" sz="2700">
                <a:solidFill>
                  <a:srgbClr val="13365E"/>
                </a:solidFill>
              </a:rPr>
              <a:t>and</a:t>
            </a:r>
            <a:r>
              <a:rPr dirty="0" sz="2700" spc="-25">
                <a:solidFill>
                  <a:srgbClr val="13365E"/>
                </a:solidFill>
              </a:rPr>
              <a:t> </a:t>
            </a:r>
            <a:r>
              <a:rPr dirty="0" sz="2700" spc="-10">
                <a:solidFill>
                  <a:srgbClr val="13365E"/>
                </a:solidFill>
              </a:rPr>
              <a:t>Uniqueness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854176" y="1111224"/>
            <a:ext cx="11004550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FinanceGuru</a:t>
            </a:r>
            <a:r>
              <a:rPr dirty="0" sz="18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differentiates</a:t>
            </a:r>
            <a:r>
              <a:rPr dirty="0" sz="18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itself</a:t>
            </a:r>
            <a:r>
              <a:rPr dirty="0" sz="18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combining</a:t>
            </a:r>
            <a:r>
              <a:rPr dirty="0" sz="18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8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education,</a:t>
            </a:r>
            <a:r>
              <a:rPr dirty="0" sz="18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scam</a:t>
            </a:r>
            <a:r>
              <a:rPr dirty="0" sz="1800" spc="-5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18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agentic</a:t>
            </a:r>
            <a:r>
              <a:rPr dirty="0" sz="1800" spc="-4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reasoning</a:t>
            </a:r>
            <a:r>
              <a:rPr dirty="0" sz="1800" spc="-4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C2C2C"/>
                </a:solidFill>
                <a:latin typeface="Microsoft Sans Serif"/>
                <a:cs typeface="Microsoft Sans Serif"/>
              </a:rPr>
              <a:t>in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assistant.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Unified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finance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assistant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UPI,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loans,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investments,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budgeting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fraud.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Proactive scam radar</a:t>
            </a:r>
            <a:r>
              <a:rPr dirty="0" sz="1800" spc="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 warns about</a:t>
            </a:r>
            <a:r>
              <a:rPr dirty="0" sz="1800" spc="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suspicious patterns before</a:t>
            </a:r>
            <a:r>
              <a:rPr dirty="0" sz="1800" spc="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users 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act.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Direct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calculations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explains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EMI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FD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maturity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instead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redirecting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users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calculator.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Plain-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8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design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jargon</a:t>
            </a:r>
            <a:r>
              <a:rPr dirty="0" sz="18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explained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beginners.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Bilingual</a:t>
            </a:r>
            <a:r>
              <a:rPr dirty="0" sz="1800" spc="-3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interaction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Hindi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English</a:t>
            </a: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queries.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 spc="-30">
                <a:solidFill>
                  <a:srgbClr val="2C2C2C"/>
                </a:solidFill>
                <a:latin typeface="Microsoft Sans Serif"/>
                <a:cs typeface="Microsoft Sans Serif"/>
              </a:rPr>
              <a:t>Voice-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enabled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access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browser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speech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input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reduces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typing</a:t>
            </a:r>
            <a:r>
              <a:rPr dirty="0" sz="1800" spc="-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friction.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Official-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channel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escalation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1930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cybercrime.gov.in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surfaced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fraud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cases.</a:t>
            </a:r>
            <a:endParaRPr sz="1800">
              <a:latin typeface="Microsoft Sans Serif"/>
              <a:cs typeface="Microsoft Sans Serif"/>
            </a:endParaRPr>
          </a:p>
          <a:p>
            <a:pPr marL="155575" indent="-142875">
              <a:lnSpc>
                <a:spcPct val="100000"/>
              </a:lnSpc>
              <a:buChar char="•"/>
              <a:tabLst>
                <a:tab pos="155575" algn="l"/>
              </a:tabLst>
            </a:pP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RAG-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ready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2C2C2C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evolve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embedded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instructions</a:t>
            </a:r>
            <a:r>
              <a:rPr dirty="0" sz="1800" spc="-2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curated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C2C2C"/>
                </a:solidFill>
                <a:latin typeface="Microsoft Sans Serif"/>
                <a:cs typeface="Microsoft Sans Serif"/>
              </a:rPr>
              <a:t>official</a:t>
            </a:r>
            <a:r>
              <a:rPr dirty="0" sz="1800" spc="-15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C2C2C"/>
                </a:solidFill>
                <a:latin typeface="Microsoft Sans Serif"/>
                <a:cs typeface="Microsoft Sans Serif"/>
              </a:rPr>
              <a:t>sources.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896" y="1449260"/>
            <a:ext cx="8475345" cy="19456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Public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repository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URL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-10">
                <a:solidFill>
                  <a:srgbClr val="0462C0"/>
                </a:solidFill>
                <a:uFill>
                  <a:solidFill>
                    <a:srgbClr val="0462C0"/>
                  </a:solidFill>
                </a:uFill>
                <a:latin typeface="Microsoft Sans Serif"/>
                <a:cs typeface="Microsoft Sans Serif"/>
                <a:hlinkClick r:id="rId2"/>
              </a:rPr>
              <a:t>https://github.com/anusinghz926-ai/AICTE_EDUNET_IBM_Orchestrate-</a:t>
            </a:r>
            <a:r>
              <a:rPr dirty="0" u="sng" sz="1600">
                <a:solidFill>
                  <a:srgbClr val="0462C0"/>
                </a:solidFill>
                <a:uFill>
                  <a:solidFill>
                    <a:srgbClr val="0462C0"/>
                  </a:solidFill>
                </a:uFill>
                <a:latin typeface="Microsoft Sans Serif"/>
                <a:cs typeface="Microsoft Sans Serif"/>
                <a:hlinkClick r:id="rId2"/>
              </a:rPr>
              <a:t>Project-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600" b="1">
                <a:latin typeface="Arial"/>
                <a:cs typeface="Arial"/>
              </a:rPr>
              <a:t>Repository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contents</a:t>
            </a:r>
            <a:endParaRPr sz="1600">
              <a:latin typeface="Arial"/>
              <a:cs typeface="Arial"/>
            </a:endParaRPr>
          </a:p>
          <a:p>
            <a:pPr marL="12700" marR="2795905">
              <a:lnSpc>
                <a:spcPct val="100000"/>
              </a:lnSpc>
            </a:pPr>
            <a:r>
              <a:rPr dirty="0" sz="1400">
                <a:latin typeface="Microsoft Sans Serif"/>
                <a:cs typeface="Microsoft Sans Serif"/>
              </a:rPr>
              <a:t>app.py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•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app.json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•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agents/digital_financial_literacy_agent.yaml </a:t>
            </a:r>
            <a:r>
              <a:rPr dirty="0" sz="1400">
                <a:latin typeface="Microsoft Sans Serif"/>
                <a:cs typeface="Microsoft Sans Serif"/>
              </a:rPr>
              <a:t>docs/architecture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•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docs/implementation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•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docs/overview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•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README.md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600" b="1">
                <a:latin typeface="Arial"/>
                <a:cs typeface="Arial"/>
              </a:rPr>
              <a:t>Submission</a:t>
            </a:r>
            <a:r>
              <a:rPr dirty="0" sz="1600" spc="-9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note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Microsoft Sans Serif"/>
                <a:cs typeface="Microsoft Sans Serif"/>
              </a:rPr>
              <a:t>The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repository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contains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the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FinanceGuru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application,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agent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configuration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and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project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documentation.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217" rIns="0" bIns="0" rtlCol="0" vert="horz">
            <a:spAutoFit/>
          </a:bodyPr>
          <a:lstStyle/>
          <a:p>
            <a:pPr marL="69786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3365E"/>
                </a:solidFill>
              </a:rPr>
              <a:t>Future</a:t>
            </a:r>
            <a:r>
              <a:rPr dirty="0" sz="2700" spc="-30">
                <a:solidFill>
                  <a:srgbClr val="13365E"/>
                </a:solidFill>
              </a:rPr>
              <a:t> </a:t>
            </a:r>
            <a:r>
              <a:rPr dirty="0" sz="2700" spc="-10">
                <a:solidFill>
                  <a:srgbClr val="13365E"/>
                </a:solidFill>
              </a:rPr>
              <a:t>Scope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1128496" y="1174940"/>
            <a:ext cx="9562465" cy="402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2735" algn="l"/>
              </a:tabLst>
            </a:pP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RAG</a:t>
            </a:r>
            <a:r>
              <a:rPr dirty="0" sz="2000" spc="-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with</a:t>
            </a:r>
            <a:r>
              <a:rPr dirty="0" sz="2000" spc="-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trusted</a:t>
            </a:r>
            <a:r>
              <a:rPr dirty="0" sz="2000" spc="-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live</a:t>
            </a:r>
            <a:r>
              <a:rPr dirty="0" sz="2000" spc="-1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365E"/>
                </a:solidFill>
                <a:latin typeface="Arial"/>
                <a:cs typeface="Arial"/>
              </a:rPr>
              <a:t>sources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Connect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curated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RBI,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SEBI,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NPCI,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banking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sources</a:t>
            </a:r>
            <a:r>
              <a:rPr dirty="0" sz="1700" spc="-3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so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rates/rules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can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be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retrieved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2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cited</a:t>
            </a:r>
            <a:r>
              <a:rPr dirty="0" sz="1700" spc="-2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more</a:t>
            </a:r>
            <a:r>
              <a:rPr dirty="0" sz="1700" spc="-2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dynamically.</a:t>
            </a:r>
            <a:endParaRPr sz="1700">
              <a:latin typeface="Microsoft Sans Serif"/>
              <a:cs typeface="Microsoft Sans Serif"/>
            </a:endParaRPr>
          </a:p>
          <a:p>
            <a:pPr marL="292735" indent="-280035">
              <a:lnSpc>
                <a:spcPct val="100000"/>
              </a:lnSpc>
              <a:spcBef>
                <a:spcPts val="800"/>
              </a:spcBef>
              <a:buAutoNum type="arabicPeriod" startAt="2"/>
              <a:tabLst>
                <a:tab pos="292735" algn="l"/>
              </a:tabLst>
            </a:pPr>
            <a:r>
              <a:rPr dirty="0" sz="2000" spc="-10" b="1">
                <a:solidFill>
                  <a:srgbClr val="13365E"/>
                </a:solidFill>
                <a:latin typeface="Arial"/>
                <a:cs typeface="Arial"/>
              </a:rPr>
              <a:t>Hindi-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first</a:t>
            </a:r>
            <a:r>
              <a:rPr dirty="0" sz="2000" spc="-3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&amp;</a:t>
            </a:r>
            <a:r>
              <a:rPr dirty="0" sz="2000" spc="-2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multilingual</a:t>
            </a:r>
            <a:r>
              <a:rPr dirty="0" sz="2000" spc="-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365E"/>
                </a:solidFill>
                <a:latin typeface="Arial"/>
                <a:cs typeface="Arial"/>
              </a:rPr>
              <a:t>voice</a:t>
            </a:r>
            <a:endParaRPr sz="2000">
              <a:latin typeface="Arial"/>
              <a:cs typeface="Arial"/>
            </a:endParaRPr>
          </a:p>
          <a:p>
            <a:pPr marL="12700" marR="42545">
              <a:lnSpc>
                <a:spcPct val="100000"/>
              </a:lnSpc>
            </a:pP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Extend</a:t>
            </a:r>
            <a:r>
              <a:rPr dirty="0" sz="1700" spc="-6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Web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Speech</a:t>
            </a:r>
            <a:r>
              <a:rPr dirty="0" sz="1700" spc="-10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selection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support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more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Indian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rural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semi-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urban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users.</a:t>
            </a:r>
            <a:endParaRPr sz="1700">
              <a:latin typeface="Microsoft Sans Serif"/>
              <a:cs typeface="Microsoft Sans Serif"/>
            </a:endParaRPr>
          </a:p>
          <a:p>
            <a:pPr marL="292735" indent="-280035">
              <a:lnSpc>
                <a:spcPct val="100000"/>
              </a:lnSpc>
              <a:spcBef>
                <a:spcPts val="805"/>
              </a:spcBef>
              <a:buAutoNum type="arabicPeriod" startAt="3"/>
              <a:tabLst>
                <a:tab pos="292735" algn="l"/>
              </a:tabLst>
            </a:pP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Live</a:t>
            </a:r>
            <a:r>
              <a:rPr dirty="0" sz="2000" spc="-3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financial</a:t>
            </a:r>
            <a:r>
              <a:rPr dirty="0" sz="2000" spc="-3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data</a:t>
            </a:r>
            <a:r>
              <a:rPr dirty="0" sz="2000" spc="-3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365E"/>
                </a:solidFill>
                <a:latin typeface="Arial"/>
                <a:cs typeface="Arial"/>
              </a:rPr>
              <a:t>connectors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Add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controlled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data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feeds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current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FD</a:t>
            </a:r>
            <a:r>
              <a:rPr dirty="0" sz="1700" spc="-3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rates,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market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official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policy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updates.</a:t>
            </a:r>
            <a:endParaRPr sz="1700">
              <a:latin typeface="Microsoft Sans Serif"/>
              <a:cs typeface="Microsoft Sans Serif"/>
            </a:endParaRPr>
          </a:p>
          <a:p>
            <a:pPr marL="292735" indent="-280035">
              <a:lnSpc>
                <a:spcPct val="100000"/>
              </a:lnSpc>
              <a:spcBef>
                <a:spcPts val="800"/>
              </a:spcBef>
              <a:buAutoNum type="arabicPeriod" startAt="4"/>
              <a:tabLst>
                <a:tab pos="292735" algn="l"/>
              </a:tabLst>
            </a:pP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Personal</a:t>
            </a:r>
            <a:r>
              <a:rPr dirty="0" sz="2000" spc="-6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finance</a:t>
            </a:r>
            <a:r>
              <a:rPr dirty="0" sz="2000" spc="-5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365E"/>
                </a:solidFill>
                <a:latin typeface="Arial"/>
                <a:cs typeface="Arial"/>
              </a:rPr>
              <a:t>dashboard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Track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budgets,</a:t>
            </a:r>
            <a:r>
              <a:rPr dirty="0" sz="1700" spc="-6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savings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goals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learning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progress</a:t>
            </a:r>
            <a:r>
              <a:rPr dirty="0" sz="1700" spc="-6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without</a:t>
            </a:r>
            <a:r>
              <a:rPr dirty="0" sz="1700" spc="-6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storing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unnecessary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personal</a:t>
            </a:r>
            <a:r>
              <a:rPr dirty="0" sz="1700" spc="-5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data.</a:t>
            </a:r>
            <a:endParaRPr sz="1700">
              <a:latin typeface="Microsoft Sans Serif"/>
              <a:cs typeface="Microsoft Sans Serif"/>
            </a:endParaRPr>
          </a:p>
          <a:p>
            <a:pPr marL="292735" indent="-280035">
              <a:lnSpc>
                <a:spcPct val="100000"/>
              </a:lnSpc>
              <a:spcBef>
                <a:spcPts val="800"/>
              </a:spcBef>
              <a:buAutoNum type="arabicPeriod" startAt="5"/>
              <a:tabLst>
                <a:tab pos="292735" algn="l"/>
              </a:tabLst>
            </a:pP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Stronger</a:t>
            </a:r>
            <a:r>
              <a:rPr dirty="0" sz="2000" spc="-7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3365E"/>
                </a:solidFill>
                <a:latin typeface="Arial"/>
                <a:cs typeface="Arial"/>
              </a:rPr>
              <a:t>deployment</a:t>
            </a:r>
            <a:r>
              <a:rPr dirty="0" sz="2000" spc="-7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3365E"/>
                </a:solidFill>
                <a:latin typeface="Arial"/>
                <a:cs typeface="Arial"/>
              </a:rPr>
              <a:t>security</a:t>
            </a:r>
            <a:endParaRPr sz="2000">
              <a:latin typeface="Arial"/>
              <a:cs typeface="Arial"/>
            </a:endParaRPr>
          </a:p>
          <a:p>
            <a:pPr marL="12700" marR="375920">
              <a:lnSpc>
                <a:spcPct val="100000"/>
              </a:lnSpc>
            </a:pP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Remove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debug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response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logging,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use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363636"/>
                </a:solidFill>
                <a:latin typeface="Microsoft Sans Serif"/>
                <a:cs typeface="Microsoft Sans Serif"/>
              </a:rPr>
              <a:t>production-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grade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session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storage</a:t>
            </a:r>
            <a:r>
              <a:rPr dirty="0" sz="1700" spc="-4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3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strengthen</a:t>
            </a:r>
            <a:r>
              <a:rPr dirty="0" sz="1700" spc="-45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secrets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700" spc="-8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63636"/>
                </a:solidFill>
                <a:latin typeface="Microsoft Sans Serif"/>
                <a:cs typeface="Microsoft Sans Serif"/>
              </a:rPr>
              <a:t>before</a:t>
            </a:r>
            <a:r>
              <a:rPr dirty="0" sz="1700" spc="-70">
                <a:solidFill>
                  <a:srgbClr val="36363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63636"/>
                </a:solidFill>
                <a:latin typeface="Microsoft Sans Serif"/>
                <a:cs typeface="Microsoft Sans Serif"/>
              </a:rPr>
              <a:t>scale-</a:t>
            </a:r>
            <a:r>
              <a:rPr dirty="0" sz="1700" spc="-20">
                <a:solidFill>
                  <a:srgbClr val="363636"/>
                </a:solidFill>
                <a:latin typeface="Microsoft Sans Serif"/>
                <a:cs typeface="Microsoft Sans Serif"/>
              </a:rPr>
              <a:t>out.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Certificates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IBM</a:t>
            </a:r>
            <a:r>
              <a:rPr dirty="0" spc="-50"/>
              <a:t> </a:t>
            </a:r>
            <a:r>
              <a:rPr dirty="0"/>
              <a:t>SkillsBuild</a:t>
            </a:r>
            <a:r>
              <a:rPr dirty="0" spc="-50"/>
              <a:t> </a:t>
            </a:r>
            <a:r>
              <a:rPr dirty="0"/>
              <a:t>Credentials</a:t>
            </a:r>
            <a:r>
              <a:rPr dirty="0" spc="570"/>
              <a:t> </a:t>
            </a:r>
            <a:r>
              <a:rPr dirty="0"/>
              <a:t>•</a:t>
            </a:r>
            <a:r>
              <a:rPr dirty="0" spc="565"/>
              <a:t> </a:t>
            </a:r>
            <a:r>
              <a:rPr dirty="0" spc="-50"/>
              <a:t>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2597" y="768946"/>
            <a:ext cx="11235690" cy="116205"/>
            <a:chOff x="462597" y="768946"/>
            <a:chExt cx="11235690" cy="1162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597" y="768946"/>
              <a:ext cx="11235245" cy="1159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2564" y="785876"/>
              <a:ext cx="11155680" cy="36830"/>
            </a:xfrm>
            <a:custGeom>
              <a:avLst/>
              <a:gdLst/>
              <a:ahLst/>
              <a:cxnLst/>
              <a:rect l="l" t="t" r="r" b="b"/>
              <a:pathLst>
                <a:path w="11155680" h="36830">
                  <a:moveTo>
                    <a:pt x="11155311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5577840" y="36360"/>
                  </a:lnTo>
                  <a:lnTo>
                    <a:pt x="11155311" y="36360"/>
                  </a:lnTo>
                  <a:lnTo>
                    <a:pt x="11155311" y="0"/>
                  </a:lnTo>
                  <a:close/>
                </a:path>
              </a:pathLst>
            </a:custGeom>
            <a:solidFill>
              <a:srgbClr val="1E366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58279" y="1029944"/>
            <a:ext cx="5621655" cy="5347335"/>
            <a:chOff x="458279" y="1029944"/>
            <a:chExt cx="5621655" cy="53473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79" y="1029944"/>
              <a:ext cx="5621401" cy="53467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2919" y="1051559"/>
              <a:ext cx="5532120" cy="5257800"/>
            </a:xfrm>
            <a:custGeom>
              <a:avLst/>
              <a:gdLst/>
              <a:ahLst/>
              <a:cxnLst/>
              <a:rect l="l" t="t" r="r" b="b"/>
              <a:pathLst>
                <a:path w="5532120" h="5257800">
                  <a:moveTo>
                    <a:pt x="4655515" y="0"/>
                  </a:moveTo>
                  <a:lnTo>
                    <a:pt x="876236" y="0"/>
                  </a:lnTo>
                  <a:lnTo>
                    <a:pt x="825111" y="1488"/>
                  </a:lnTo>
                  <a:lnTo>
                    <a:pt x="774300" y="5934"/>
                  </a:lnTo>
                  <a:lnTo>
                    <a:pt x="723931" y="13307"/>
                  </a:lnTo>
                  <a:lnTo>
                    <a:pt x="674131" y="23578"/>
                  </a:lnTo>
                  <a:lnTo>
                    <a:pt x="625027" y="36717"/>
                  </a:lnTo>
                  <a:lnTo>
                    <a:pt x="576747" y="52694"/>
                  </a:lnTo>
                  <a:lnTo>
                    <a:pt x="529419" y="71480"/>
                  </a:lnTo>
                  <a:lnTo>
                    <a:pt x="483169" y="93046"/>
                  </a:lnTo>
                  <a:lnTo>
                    <a:pt x="438124" y="117360"/>
                  </a:lnTo>
                  <a:lnTo>
                    <a:pt x="394576" y="144265"/>
                  </a:lnTo>
                  <a:lnTo>
                    <a:pt x="352798" y="173560"/>
                  </a:lnTo>
                  <a:lnTo>
                    <a:pt x="312878" y="205158"/>
                  </a:lnTo>
                  <a:lnTo>
                    <a:pt x="274906" y="238970"/>
                  </a:lnTo>
                  <a:lnTo>
                    <a:pt x="238970" y="274906"/>
                  </a:lnTo>
                  <a:lnTo>
                    <a:pt x="205158" y="312878"/>
                  </a:lnTo>
                  <a:lnTo>
                    <a:pt x="173560" y="352798"/>
                  </a:lnTo>
                  <a:lnTo>
                    <a:pt x="144265" y="394576"/>
                  </a:lnTo>
                  <a:lnTo>
                    <a:pt x="117360" y="438124"/>
                  </a:lnTo>
                  <a:lnTo>
                    <a:pt x="93046" y="483169"/>
                  </a:lnTo>
                  <a:lnTo>
                    <a:pt x="71480" y="529419"/>
                  </a:lnTo>
                  <a:lnTo>
                    <a:pt x="52694" y="576747"/>
                  </a:lnTo>
                  <a:lnTo>
                    <a:pt x="36717" y="625027"/>
                  </a:lnTo>
                  <a:lnTo>
                    <a:pt x="23578" y="674131"/>
                  </a:lnTo>
                  <a:lnTo>
                    <a:pt x="13307" y="723931"/>
                  </a:lnTo>
                  <a:lnTo>
                    <a:pt x="5934" y="774300"/>
                  </a:lnTo>
                  <a:lnTo>
                    <a:pt x="1488" y="825111"/>
                  </a:lnTo>
                  <a:lnTo>
                    <a:pt x="0" y="876236"/>
                  </a:lnTo>
                  <a:lnTo>
                    <a:pt x="0" y="4381563"/>
                  </a:lnTo>
                  <a:lnTo>
                    <a:pt x="1477" y="4432321"/>
                  </a:lnTo>
                  <a:lnTo>
                    <a:pt x="1488" y="4432688"/>
                  </a:lnTo>
                  <a:lnTo>
                    <a:pt x="5902" y="4483133"/>
                  </a:lnTo>
                  <a:lnTo>
                    <a:pt x="5934" y="4483499"/>
                  </a:lnTo>
                  <a:lnTo>
                    <a:pt x="13253" y="4533503"/>
                  </a:lnTo>
                  <a:lnTo>
                    <a:pt x="13307" y="4533868"/>
                  </a:lnTo>
                  <a:lnTo>
                    <a:pt x="23503" y="4583305"/>
                  </a:lnTo>
                  <a:lnTo>
                    <a:pt x="23578" y="4583668"/>
                  </a:lnTo>
                  <a:lnTo>
                    <a:pt x="36620" y="4632411"/>
                  </a:lnTo>
                  <a:lnTo>
                    <a:pt x="36717" y="4632772"/>
                  </a:lnTo>
                  <a:lnTo>
                    <a:pt x="52575" y="4680693"/>
                  </a:lnTo>
                  <a:lnTo>
                    <a:pt x="52694" y="4681052"/>
                  </a:lnTo>
                  <a:lnTo>
                    <a:pt x="71480" y="4728380"/>
                  </a:lnTo>
                  <a:lnTo>
                    <a:pt x="93046" y="4774630"/>
                  </a:lnTo>
                  <a:lnTo>
                    <a:pt x="117360" y="4819675"/>
                  </a:lnTo>
                  <a:lnTo>
                    <a:pt x="144265" y="4863223"/>
                  </a:lnTo>
                  <a:lnTo>
                    <a:pt x="173560" y="4905001"/>
                  </a:lnTo>
                  <a:lnTo>
                    <a:pt x="205158" y="4944921"/>
                  </a:lnTo>
                  <a:lnTo>
                    <a:pt x="238970" y="4982893"/>
                  </a:lnTo>
                  <a:lnTo>
                    <a:pt x="274906" y="5018829"/>
                  </a:lnTo>
                  <a:lnTo>
                    <a:pt x="312878" y="5052641"/>
                  </a:lnTo>
                  <a:lnTo>
                    <a:pt x="352798" y="5084239"/>
                  </a:lnTo>
                  <a:lnTo>
                    <a:pt x="394576" y="5113534"/>
                  </a:lnTo>
                  <a:lnTo>
                    <a:pt x="438124" y="5140439"/>
                  </a:lnTo>
                  <a:lnTo>
                    <a:pt x="483169" y="5164753"/>
                  </a:lnTo>
                  <a:lnTo>
                    <a:pt x="529419" y="5186319"/>
                  </a:lnTo>
                  <a:lnTo>
                    <a:pt x="576747" y="5205105"/>
                  </a:lnTo>
                  <a:lnTo>
                    <a:pt x="625027" y="5221082"/>
                  </a:lnTo>
                  <a:lnTo>
                    <a:pt x="674131" y="5234221"/>
                  </a:lnTo>
                  <a:lnTo>
                    <a:pt x="723931" y="5244492"/>
                  </a:lnTo>
                  <a:lnTo>
                    <a:pt x="774300" y="5251865"/>
                  </a:lnTo>
                  <a:lnTo>
                    <a:pt x="825111" y="5256311"/>
                  </a:lnTo>
                  <a:lnTo>
                    <a:pt x="876236" y="5257800"/>
                  </a:lnTo>
                  <a:lnTo>
                    <a:pt x="4655883" y="5257444"/>
                  </a:lnTo>
                  <a:lnTo>
                    <a:pt x="4707008" y="5255955"/>
                  </a:lnTo>
                  <a:lnTo>
                    <a:pt x="4757819" y="5251510"/>
                  </a:lnTo>
                  <a:lnTo>
                    <a:pt x="4808188" y="5244137"/>
                  </a:lnTo>
                  <a:lnTo>
                    <a:pt x="4857988" y="5233866"/>
                  </a:lnTo>
                  <a:lnTo>
                    <a:pt x="4907092" y="5220727"/>
                  </a:lnTo>
                  <a:lnTo>
                    <a:pt x="4955372" y="5204749"/>
                  </a:lnTo>
                  <a:lnTo>
                    <a:pt x="5002700" y="5185963"/>
                  </a:lnTo>
                  <a:lnTo>
                    <a:pt x="5048950" y="5164398"/>
                  </a:lnTo>
                  <a:lnTo>
                    <a:pt x="5093995" y="5140083"/>
                  </a:lnTo>
                  <a:lnTo>
                    <a:pt x="5137543" y="5113178"/>
                  </a:lnTo>
                  <a:lnTo>
                    <a:pt x="5179321" y="5083882"/>
                  </a:lnTo>
                  <a:lnTo>
                    <a:pt x="5219241" y="5052282"/>
                  </a:lnTo>
                  <a:lnTo>
                    <a:pt x="5257213" y="5018470"/>
                  </a:lnTo>
                  <a:lnTo>
                    <a:pt x="5293149" y="4982532"/>
                  </a:lnTo>
                  <a:lnTo>
                    <a:pt x="5326961" y="4944560"/>
                  </a:lnTo>
                  <a:lnTo>
                    <a:pt x="5358559" y="4904641"/>
                  </a:lnTo>
                  <a:lnTo>
                    <a:pt x="5387854" y="4862864"/>
                  </a:lnTo>
                  <a:lnTo>
                    <a:pt x="5414759" y="4819319"/>
                  </a:lnTo>
                  <a:lnTo>
                    <a:pt x="5439073" y="4774274"/>
                  </a:lnTo>
                  <a:lnTo>
                    <a:pt x="5460639" y="4728023"/>
                  </a:lnTo>
                  <a:lnTo>
                    <a:pt x="5479425" y="4680693"/>
                  </a:lnTo>
                  <a:lnTo>
                    <a:pt x="5495283" y="4632772"/>
                  </a:lnTo>
                  <a:lnTo>
                    <a:pt x="5508444" y="4583668"/>
                  </a:lnTo>
                  <a:lnTo>
                    <a:pt x="5508541" y="4583305"/>
                  </a:lnTo>
                  <a:lnTo>
                    <a:pt x="5518737" y="4533868"/>
                  </a:lnTo>
                  <a:lnTo>
                    <a:pt x="5518812" y="4533503"/>
                  </a:lnTo>
                  <a:lnTo>
                    <a:pt x="5526132" y="4483499"/>
                  </a:lnTo>
                  <a:lnTo>
                    <a:pt x="5526185" y="4483133"/>
                  </a:lnTo>
                  <a:lnTo>
                    <a:pt x="5530599" y="4432688"/>
                  </a:lnTo>
                  <a:lnTo>
                    <a:pt x="5530631" y="4432321"/>
                  </a:lnTo>
                  <a:lnTo>
                    <a:pt x="5532109" y="4381563"/>
                  </a:lnTo>
                  <a:lnTo>
                    <a:pt x="5531764" y="876236"/>
                  </a:lnTo>
                  <a:lnTo>
                    <a:pt x="5530275" y="825111"/>
                  </a:lnTo>
                  <a:lnTo>
                    <a:pt x="5525830" y="774300"/>
                  </a:lnTo>
                  <a:lnTo>
                    <a:pt x="5518457" y="723931"/>
                  </a:lnTo>
                  <a:lnTo>
                    <a:pt x="5508186" y="674131"/>
                  </a:lnTo>
                  <a:lnTo>
                    <a:pt x="5495047" y="625027"/>
                  </a:lnTo>
                  <a:lnTo>
                    <a:pt x="5479069" y="576747"/>
                  </a:lnTo>
                  <a:lnTo>
                    <a:pt x="5460283" y="529419"/>
                  </a:lnTo>
                  <a:lnTo>
                    <a:pt x="5438718" y="483169"/>
                  </a:lnTo>
                  <a:lnTo>
                    <a:pt x="5414403" y="438124"/>
                  </a:lnTo>
                  <a:lnTo>
                    <a:pt x="5387498" y="394576"/>
                  </a:lnTo>
                  <a:lnTo>
                    <a:pt x="5358202" y="352798"/>
                  </a:lnTo>
                  <a:lnTo>
                    <a:pt x="5326602" y="312878"/>
                  </a:lnTo>
                  <a:lnTo>
                    <a:pt x="5292790" y="274906"/>
                  </a:lnTo>
                  <a:lnTo>
                    <a:pt x="5256852" y="238970"/>
                  </a:lnTo>
                  <a:lnTo>
                    <a:pt x="5218880" y="205158"/>
                  </a:lnTo>
                  <a:lnTo>
                    <a:pt x="5178961" y="173560"/>
                  </a:lnTo>
                  <a:lnTo>
                    <a:pt x="5137184" y="144265"/>
                  </a:lnTo>
                  <a:lnTo>
                    <a:pt x="5093639" y="117360"/>
                  </a:lnTo>
                  <a:lnTo>
                    <a:pt x="5048594" y="93046"/>
                  </a:lnTo>
                  <a:lnTo>
                    <a:pt x="5002343" y="71480"/>
                  </a:lnTo>
                  <a:lnTo>
                    <a:pt x="4955013" y="52694"/>
                  </a:lnTo>
                  <a:lnTo>
                    <a:pt x="4906731" y="36717"/>
                  </a:lnTo>
                  <a:lnTo>
                    <a:pt x="4857625" y="23578"/>
                  </a:lnTo>
                  <a:lnTo>
                    <a:pt x="4807823" y="13307"/>
                  </a:lnTo>
                  <a:lnTo>
                    <a:pt x="4757453" y="5934"/>
                  </a:lnTo>
                  <a:lnTo>
                    <a:pt x="4706641" y="1488"/>
                  </a:lnTo>
                  <a:lnTo>
                    <a:pt x="4655515" y="0"/>
                  </a:lnTo>
                  <a:close/>
                </a:path>
              </a:pathLst>
            </a:custGeom>
            <a:solidFill>
              <a:srgbClr val="F7F9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2919" y="1051559"/>
              <a:ext cx="5532120" cy="5257800"/>
            </a:xfrm>
            <a:custGeom>
              <a:avLst/>
              <a:gdLst/>
              <a:ahLst/>
              <a:cxnLst/>
              <a:rect l="l" t="t" r="r" b="b"/>
              <a:pathLst>
                <a:path w="5532120" h="5257800">
                  <a:moveTo>
                    <a:pt x="0" y="876236"/>
                  </a:moveTo>
                  <a:lnTo>
                    <a:pt x="1488" y="825111"/>
                  </a:lnTo>
                  <a:lnTo>
                    <a:pt x="5934" y="774300"/>
                  </a:lnTo>
                  <a:lnTo>
                    <a:pt x="13307" y="723931"/>
                  </a:lnTo>
                  <a:lnTo>
                    <a:pt x="23578" y="674131"/>
                  </a:lnTo>
                  <a:lnTo>
                    <a:pt x="36717" y="625027"/>
                  </a:lnTo>
                  <a:lnTo>
                    <a:pt x="52694" y="576747"/>
                  </a:lnTo>
                  <a:lnTo>
                    <a:pt x="71480" y="529419"/>
                  </a:lnTo>
                  <a:lnTo>
                    <a:pt x="93046" y="483169"/>
                  </a:lnTo>
                  <a:lnTo>
                    <a:pt x="117360" y="438124"/>
                  </a:lnTo>
                  <a:lnTo>
                    <a:pt x="144265" y="394576"/>
                  </a:lnTo>
                  <a:lnTo>
                    <a:pt x="173560" y="352798"/>
                  </a:lnTo>
                  <a:lnTo>
                    <a:pt x="205158" y="312878"/>
                  </a:lnTo>
                  <a:lnTo>
                    <a:pt x="238970" y="274906"/>
                  </a:lnTo>
                  <a:lnTo>
                    <a:pt x="274906" y="238970"/>
                  </a:lnTo>
                  <a:lnTo>
                    <a:pt x="312878" y="205158"/>
                  </a:lnTo>
                  <a:lnTo>
                    <a:pt x="352798" y="173560"/>
                  </a:lnTo>
                  <a:lnTo>
                    <a:pt x="394576" y="144265"/>
                  </a:lnTo>
                  <a:lnTo>
                    <a:pt x="438124" y="117360"/>
                  </a:lnTo>
                  <a:lnTo>
                    <a:pt x="483169" y="93046"/>
                  </a:lnTo>
                  <a:lnTo>
                    <a:pt x="529419" y="71480"/>
                  </a:lnTo>
                  <a:lnTo>
                    <a:pt x="576747" y="52694"/>
                  </a:lnTo>
                  <a:lnTo>
                    <a:pt x="625027" y="36717"/>
                  </a:lnTo>
                  <a:lnTo>
                    <a:pt x="674131" y="23578"/>
                  </a:lnTo>
                  <a:lnTo>
                    <a:pt x="723931" y="13307"/>
                  </a:lnTo>
                  <a:lnTo>
                    <a:pt x="774300" y="5934"/>
                  </a:lnTo>
                  <a:lnTo>
                    <a:pt x="825111" y="1488"/>
                  </a:lnTo>
                  <a:lnTo>
                    <a:pt x="876236" y="0"/>
                  </a:lnTo>
                  <a:lnTo>
                    <a:pt x="4655515" y="0"/>
                  </a:lnTo>
                  <a:lnTo>
                    <a:pt x="4706641" y="1488"/>
                  </a:lnTo>
                  <a:lnTo>
                    <a:pt x="4757453" y="5934"/>
                  </a:lnTo>
                  <a:lnTo>
                    <a:pt x="4807823" y="13307"/>
                  </a:lnTo>
                  <a:lnTo>
                    <a:pt x="4857625" y="23578"/>
                  </a:lnTo>
                  <a:lnTo>
                    <a:pt x="4906731" y="36717"/>
                  </a:lnTo>
                  <a:lnTo>
                    <a:pt x="4955013" y="52694"/>
                  </a:lnTo>
                  <a:lnTo>
                    <a:pt x="5002343" y="71480"/>
                  </a:lnTo>
                  <a:lnTo>
                    <a:pt x="5048594" y="93046"/>
                  </a:lnTo>
                  <a:lnTo>
                    <a:pt x="5093639" y="117360"/>
                  </a:lnTo>
                  <a:lnTo>
                    <a:pt x="5137184" y="144265"/>
                  </a:lnTo>
                  <a:lnTo>
                    <a:pt x="5178961" y="173560"/>
                  </a:lnTo>
                  <a:lnTo>
                    <a:pt x="5218880" y="205158"/>
                  </a:lnTo>
                  <a:lnTo>
                    <a:pt x="5256852" y="238970"/>
                  </a:lnTo>
                  <a:lnTo>
                    <a:pt x="5292790" y="274906"/>
                  </a:lnTo>
                  <a:lnTo>
                    <a:pt x="5326602" y="312878"/>
                  </a:lnTo>
                  <a:lnTo>
                    <a:pt x="5358202" y="352798"/>
                  </a:lnTo>
                  <a:lnTo>
                    <a:pt x="5387498" y="394576"/>
                  </a:lnTo>
                  <a:lnTo>
                    <a:pt x="5414403" y="438124"/>
                  </a:lnTo>
                  <a:lnTo>
                    <a:pt x="5438718" y="483169"/>
                  </a:lnTo>
                  <a:lnTo>
                    <a:pt x="5460283" y="529419"/>
                  </a:lnTo>
                  <a:lnTo>
                    <a:pt x="5479069" y="576747"/>
                  </a:lnTo>
                  <a:lnTo>
                    <a:pt x="5495047" y="625027"/>
                  </a:lnTo>
                  <a:lnTo>
                    <a:pt x="5508186" y="674131"/>
                  </a:lnTo>
                  <a:lnTo>
                    <a:pt x="5518457" y="723931"/>
                  </a:lnTo>
                  <a:lnTo>
                    <a:pt x="5525830" y="774300"/>
                  </a:lnTo>
                  <a:lnTo>
                    <a:pt x="5530275" y="825111"/>
                  </a:lnTo>
                  <a:lnTo>
                    <a:pt x="5531764" y="876236"/>
                  </a:lnTo>
                  <a:lnTo>
                    <a:pt x="5532120" y="4381195"/>
                  </a:lnTo>
                  <a:lnTo>
                    <a:pt x="5530631" y="4432321"/>
                  </a:lnTo>
                  <a:lnTo>
                    <a:pt x="5526185" y="4483133"/>
                  </a:lnTo>
                  <a:lnTo>
                    <a:pt x="5518812" y="4533503"/>
                  </a:lnTo>
                  <a:lnTo>
                    <a:pt x="5508541" y="4583305"/>
                  </a:lnTo>
                  <a:lnTo>
                    <a:pt x="5495402" y="4632411"/>
                  </a:lnTo>
                  <a:lnTo>
                    <a:pt x="5479425" y="4680693"/>
                  </a:lnTo>
                  <a:lnTo>
                    <a:pt x="5460639" y="4728023"/>
                  </a:lnTo>
                  <a:lnTo>
                    <a:pt x="5439073" y="4774274"/>
                  </a:lnTo>
                  <a:lnTo>
                    <a:pt x="5414759" y="4819319"/>
                  </a:lnTo>
                  <a:lnTo>
                    <a:pt x="5387854" y="4862864"/>
                  </a:lnTo>
                  <a:lnTo>
                    <a:pt x="5358559" y="4904641"/>
                  </a:lnTo>
                  <a:lnTo>
                    <a:pt x="5326961" y="4944560"/>
                  </a:lnTo>
                  <a:lnTo>
                    <a:pt x="5293149" y="4982532"/>
                  </a:lnTo>
                  <a:lnTo>
                    <a:pt x="5257213" y="5018470"/>
                  </a:lnTo>
                  <a:lnTo>
                    <a:pt x="5219241" y="5052282"/>
                  </a:lnTo>
                  <a:lnTo>
                    <a:pt x="5179321" y="5083882"/>
                  </a:lnTo>
                  <a:lnTo>
                    <a:pt x="5137543" y="5113178"/>
                  </a:lnTo>
                  <a:lnTo>
                    <a:pt x="5093995" y="5140083"/>
                  </a:lnTo>
                  <a:lnTo>
                    <a:pt x="5048950" y="5164398"/>
                  </a:lnTo>
                  <a:lnTo>
                    <a:pt x="5002700" y="5185963"/>
                  </a:lnTo>
                  <a:lnTo>
                    <a:pt x="4955372" y="5204749"/>
                  </a:lnTo>
                  <a:lnTo>
                    <a:pt x="4907092" y="5220727"/>
                  </a:lnTo>
                  <a:lnTo>
                    <a:pt x="4857988" y="5233866"/>
                  </a:lnTo>
                  <a:lnTo>
                    <a:pt x="4808188" y="5244137"/>
                  </a:lnTo>
                  <a:lnTo>
                    <a:pt x="4757819" y="5251510"/>
                  </a:lnTo>
                  <a:lnTo>
                    <a:pt x="4707008" y="5255955"/>
                  </a:lnTo>
                  <a:lnTo>
                    <a:pt x="4655883" y="5257444"/>
                  </a:lnTo>
                  <a:lnTo>
                    <a:pt x="876236" y="5257800"/>
                  </a:lnTo>
                  <a:lnTo>
                    <a:pt x="825111" y="5256311"/>
                  </a:lnTo>
                  <a:lnTo>
                    <a:pt x="774300" y="5251865"/>
                  </a:lnTo>
                  <a:lnTo>
                    <a:pt x="723931" y="5244492"/>
                  </a:lnTo>
                  <a:lnTo>
                    <a:pt x="674131" y="5234221"/>
                  </a:lnTo>
                  <a:lnTo>
                    <a:pt x="625027" y="5221082"/>
                  </a:lnTo>
                  <a:lnTo>
                    <a:pt x="576747" y="5205105"/>
                  </a:lnTo>
                  <a:lnTo>
                    <a:pt x="529419" y="5186319"/>
                  </a:lnTo>
                  <a:lnTo>
                    <a:pt x="483169" y="5164753"/>
                  </a:lnTo>
                  <a:lnTo>
                    <a:pt x="438124" y="5140439"/>
                  </a:lnTo>
                  <a:lnTo>
                    <a:pt x="394576" y="5113534"/>
                  </a:lnTo>
                  <a:lnTo>
                    <a:pt x="352798" y="5084239"/>
                  </a:lnTo>
                  <a:lnTo>
                    <a:pt x="312878" y="5052641"/>
                  </a:lnTo>
                  <a:lnTo>
                    <a:pt x="274906" y="5018829"/>
                  </a:lnTo>
                  <a:lnTo>
                    <a:pt x="238970" y="4982893"/>
                  </a:lnTo>
                  <a:lnTo>
                    <a:pt x="205158" y="4944921"/>
                  </a:lnTo>
                  <a:lnTo>
                    <a:pt x="173560" y="4905001"/>
                  </a:lnTo>
                  <a:lnTo>
                    <a:pt x="144265" y="4863223"/>
                  </a:lnTo>
                  <a:lnTo>
                    <a:pt x="117360" y="4819675"/>
                  </a:lnTo>
                  <a:lnTo>
                    <a:pt x="93046" y="4774630"/>
                  </a:lnTo>
                  <a:lnTo>
                    <a:pt x="71480" y="4728380"/>
                  </a:lnTo>
                  <a:lnTo>
                    <a:pt x="52694" y="4681052"/>
                  </a:lnTo>
                  <a:lnTo>
                    <a:pt x="36717" y="4632772"/>
                  </a:lnTo>
                  <a:lnTo>
                    <a:pt x="23578" y="4583668"/>
                  </a:lnTo>
                  <a:lnTo>
                    <a:pt x="13307" y="4533868"/>
                  </a:lnTo>
                  <a:lnTo>
                    <a:pt x="5934" y="4483499"/>
                  </a:lnTo>
                  <a:lnTo>
                    <a:pt x="1488" y="4432688"/>
                  </a:lnTo>
                  <a:lnTo>
                    <a:pt x="0" y="4381563"/>
                  </a:lnTo>
                  <a:lnTo>
                    <a:pt x="0" y="876236"/>
                  </a:lnTo>
                  <a:close/>
                </a:path>
              </a:pathLst>
            </a:custGeom>
            <a:ln w="9359">
              <a:solidFill>
                <a:srgbClr val="CC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89823" y="1156576"/>
            <a:ext cx="29527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Getting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Started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with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Cybersecurity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1075" y="1029944"/>
            <a:ext cx="11072495" cy="5347335"/>
            <a:chOff x="631075" y="1029944"/>
            <a:chExt cx="11072495" cy="534733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075" y="1860829"/>
              <a:ext cx="5275795" cy="40770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1839" y="1029944"/>
              <a:ext cx="5621401" cy="534673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26480" y="1051559"/>
              <a:ext cx="5532120" cy="5257800"/>
            </a:xfrm>
            <a:custGeom>
              <a:avLst/>
              <a:gdLst/>
              <a:ahLst/>
              <a:cxnLst/>
              <a:rect l="l" t="t" r="r" b="b"/>
              <a:pathLst>
                <a:path w="5532120" h="5257800">
                  <a:moveTo>
                    <a:pt x="4655515" y="0"/>
                  </a:moveTo>
                  <a:lnTo>
                    <a:pt x="876236" y="0"/>
                  </a:lnTo>
                  <a:lnTo>
                    <a:pt x="825111" y="1488"/>
                  </a:lnTo>
                  <a:lnTo>
                    <a:pt x="774300" y="5934"/>
                  </a:lnTo>
                  <a:lnTo>
                    <a:pt x="723931" y="13307"/>
                  </a:lnTo>
                  <a:lnTo>
                    <a:pt x="674131" y="23578"/>
                  </a:lnTo>
                  <a:lnTo>
                    <a:pt x="625027" y="36717"/>
                  </a:lnTo>
                  <a:lnTo>
                    <a:pt x="576747" y="52694"/>
                  </a:lnTo>
                  <a:lnTo>
                    <a:pt x="529419" y="71480"/>
                  </a:lnTo>
                  <a:lnTo>
                    <a:pt x="483169" y="93046"/>
                  </a:lnTo>
                  <a:lnTo>
                    <a:pt x="438124" y="117360"/>
                  </a:lnTo>
                  <a:lnTo>
                    <a:pt x="394576" y="144265"/>
                  </a:lnTo>
                  <a:lnTo>
                    <a:pt x="352798" y="173560"/>
                  </a:lnTo>
                  <a:lnTo>
                    <a:pt x="312878" y="205158"/>
                  </a:lnTo>
                  <a:lnTo>
                    <a:pt x="274906" y="238970"/>
                  </a:lnTo>
                  <a:lnTo>
                    <a:pt x="238970" y="274906"/>
                  </a:lnTo>
                  <a:lnTo>
                    <a:pt x="205158" y="312878"/>
                  </a:lnTo>
                  <a:lnTo>
                    <a:pt x="173560" y="352798"/>
                  </a:lnTo>
                  <a:lnTo>
                    <a:pt x="144265" y="394576"/>
                  </a:lnTo>
                  <a:lnTo>
                    <a:pt x="117360" y="438124"/>
                  </a:lnTo>
                  <a:lnTo>
                    <a:pt x="93046" y="483169"/>
                  </a:lnTo>
                  <a:lnTo>
                    <a:pt x="71480" y="529419"/>
                  </a:lnTo>
                  <a:lnTo>
                    <a:pt x="52694" y="576747"/>
                  </a:lnTo>
                  <a:lnTo>
                    <a:pt x="36717" y="625027"/>
                  </a:lnTo>
                  <a:lnTo>
                    <a:pt x="23578" y="674131"/>
                  </a:lnTo>
                  <a:lnTo>
                    <a:pt x="13307" y="723931"/>
                  </a:lnTo>
                  <a:lnTo>
                    <a:pt x="5934" y="774300"/>
                  </a:lnTo>
                  <a:lnTo>
                    <a:pt x="1488" y="825111"/>
                  </a:lnTo>
                  <a:lnTo>
                    <a:pt x="0" y="876236"/>
                  </a:lnTo>
                  <a:lnTo>
                    <a:pt x="0" y="4381563"/>
                  </a:lnTo>
                  <a:lnTo>
                    <a:pt x="1477" y="4432321"/>
                  </a:lnTo>
                  <a:lnTo>
                    <a:pt x="5902" y="4483133"/>
                  </a:lnTo>
                  <a:lnTo>
                    <a:pt x="13253" y="4533503"/>
                  </a:lnTo>
                  <a:lnTo>
                    <a:pt x="13307" y="4533868"/>
                  </a:lnTo>
                  <a:lnTo>
                    <a:pt x="23503" y="4583305"/>
                  </a:lnTo>
                  <a:lnTo>
                    <a:pt x="23578" y="4583668"/>
                  </a:lnTo>
                  <a:lnTo>
                    <a:pt x="36620" y="4632411"/>
                  </a:lnTo>
                  <a:lnTo>
                    <a:pt x="36717" y="4632772"/>
                  </a:lnTo>
                  <a:lnTo>
                    <a:pt x="52575" y="4680693"/>
                  </a:lnTo>
                  <a:lnTo>
                    <a:pt x="52694" y="4681052"/>
                  </a:lnTo>
                  <a:lnTo>
                    <a:pt x="71480" y="4728380"/>
                  </a:lnTo>
                  <a:lnTo>
                    <a:pt x="93046" y="4774630"/>
                  </a:lnTo>
                  <a:lnTo>
                    <a:pt x="117360" y="4819675"/>
                  </a:lnTo>
                  <a:lnTo>
                    <a:pt x="144265" y="4863223"/>
                  </a:lnTo>
                  <a:lnTo>
                    <a:pt x="173560" y="4905001"/>
                  </a:lnTo>
                  <a:lnTo>
                    <a:pt x="205158" y="4944921"/>
                  </a:lnTo>
                  <a:lnTo>
                    <a:pt x="238970" y="4982893"/>
                  </a:lnTo>
                  <a:lnTo>
                    <a:pt x="274906" y="5018829"/>
                  </a:lnTo>
                  <a:lnTo>
                    <a:pt x="312878" y="5052641"/>
                  </a:lnTo>
                  <a:lnTo>
                    <a:pt x="352798" y="5084239"/>
                  </a:lnTo>
                  <a:lnTo>
                    <a:pt x="394576" y="5113534"/>
                  </a:lnTo>
                  <a:lnTo>
                    <a:pt x="438124" y="5140439"/>
                  </a:lnTo>
                  <a:lnTo>
                    <a:pt x="483169" y="5164753"/>
                  </a:lnTo>
                  <a:lnTo>
                    <a:pt x="529419" y="5186319"/>
                  </a:lnTo>
                  <a:lnTo>
                    <a:pt x="576747" y="5205105"/>
                  </a:lnTo>
                  <a:lnTo>
                    <a:pt x="625027" y="5221082"/>
                  </a:lnTo>
                  <a:lnTo>
                    <a:pt x="674131" y="5234221"/>
                  </a:lnTo>
                  <a:lnTo>
                    <a:pt x="723931" y="5244492"/>
                  </a:lnTo>
                  <a:lnTo>
                    <a:pt x="774300" y="5251865"/>
                  </a:lnTo>
                  <a:lnTo>
                    <a:pt x="825111" y="5256311"/>
                  </a:lnTo>
                  <a:lnTo>
                    <a:pt x="876236" y="5257800"/>
                  </a:lnTo>
                  <a:lnTo>
                    <a:pt x="4655883" y="5257444"/>
                  </a:lnTo>
                  <a:lnTo>
                    <a:pt x="4707008" y="5255955"/>
                  </a:lnTo>
                  <a:lnTo>
                    <a:pt x="4757819" y="5251510"/>
                  </a:lnTo>
                  <a:lnTo>
                    <a:pt x="4808188" y="5244137"/>
                  </a:lnTo>
                  <a:lnTo>
                    <a:pt x="4857988" y="5233866"/>
                  </a:lnTo>
                  <a:lnTo>
                    <a:pt x="4907092" y="5220727"/>
                  </a:lnTo>
                  <a:lnTo>
                    <a:pt x="4955372" y="5204749"/>
                  </a:lnTo>
                  <a:lnTo>
                    <a:pt x="5002700" y="5185963"/>
                  </a:lnTo>
                  <a:lnTo>
                    <a:pt x="5048950" y="5164398"/>
                  </a:lnTo>
                  <a:lnTo>
                    <a:pt x="5093995" y="5140083"/>
                  </a:lnTo>
                  <a:lnTo>
                    <a:pt x="5137543" y="5113178"/>
                  </a:lnTo>
                  <a:lnTo>
                    <a:pt x="5179321" y="5083882"/>
                  </a:lnTo>
                  <a:lnTo>
                    <a:pt x="5219241" y="5052282"/>
                  </a:lnTo>
                  <a:lnTo>
                    <a:pt x="5257213" y="5018470"/>
                  </a:lnTo>
                  <a:lnTo>
                    <a:pt x="5293149" y="4982532"/>
                  </a:lnTo>
                  <a:lnTo>
                    <a:pt x="5326961" y="4944560"/>
                  </a:lnTo>
                  <a:lnTo>
                    <a:pt x="5358559" y="4904641"/>
                  </a:lnTo>
                  <a:lnTo>
                    <a:pt x="5387854" y="4862864"/>
                  </a:lnTo>
                  <a:lnTo>
                    <a:pt x="5414759" y="4819319"/>
                  </a:lnTo>
                  <a:lnTo>
                    <a:pt x="5439073" y="4774274"/>
                  </a:lnTo>
                  <a:lnTo>
                    <a:pt x="5460639" y="4728023"/>
                  </a:lnTo>
                  <a:lnTo>
                    <a:pt x="5479425" y="4680693"/>
                  </a:lnTo>
                  <a:lnTo>
                    <a:pt x="5495283" y="4632772"/>
                  </a:lnTo>
                  <a:lnTo>
                    <a:pt x="5495402" y="4632411"/>
                  </a:lnTo>
                  <a:lnTo>
                    <a:pt x="5508444" y="4583668"/>
                  </a:lnTo>
                  <a:lnTo>
                    <a:pt x="5518737" y="4533868"/>
                  </a:lnTo>
                  <a:lnTo>
                    <a:pt x="5526132" y="4483499"/>
                  </a:lnTo>
                  <a:lnTo>
                    <a:pt x="5526185" y="4483133"/>
                  </a:lnTo>
                  <a:lnTo>
                    <a:pt x="5530599" y="4432688"/>
                  </a:lnTo>
                  <a:lnTo>
                    <a:pt x="5530631" y="4432321"/>
                  </a:lnTo>
                  <a:lnTo>
                    <a:pt x="5532109" y="4381563"/>
                  </a:lnTo>
                  <a:lnTo>
                    <a:pt x="5531764" y="876236"/>
                  </a:lnTo>
                  <a:lnTo>
                    <a:pt x="5530275" y="825111"/>
                  </a:lnTo>
                  <a:lnTo>
                    <a:pt x="5525830" y="774300"/>
                  </a:lnTo>
                  <a:lnTo>
                    <a:pt x="5518457" y="723931"/>
                  </a:lnTo>
                  <a:lnTo>
                    <a:pt x="5508186" y="674131"/>
                  </a:lnTo>
                  <a:lnTo>
                    <a:pt x="5495047" y="625027"/>
                  </a:lnTo>
                  <a:lnTo>
                    <a:pt x="5479069" y="576747"/>
                  </a:lnTo>
                  <a:lnTo>
                    <a:pt x="5460283" y="529419"/>
                  </a:lnTo>
                  <a:lnTo>
                    <a:pt x="5438718" y="483169"/>
                  </a:lnTo>
                  <a:lnTo>
                    <a:pt x="5414403" y="438124"/>
                  </a:lnTo>
                  <a:lnTo>
                    <a:pt x="5387498" y="394576"/>
                  </a:lnTo>
                  <a:lnTo>
                    <a:pt x="5358202" y="352798"/>
                  </a:lnTo>
                  <a:lnTo>
                    <a:pt x="5326602" y="312878"/>
                  </a:lnTo>
                  <a:lnTo>
                    <a:pt x="5292790" y="274906"/>
                  </a:lnTo>
                  <a:lnTo>
                    <a:pt x="5256852" y="238970"/>
                  </a:lnTo>
                  <a:lnTo>
                    <a:pt x="5218880" y="205158"/>
                  </a:lnTo>
                  <a:lnTo>
                    <a:pt x="5178961" y="173560"/>
                  </a:lnTo>
                  <a:lnTo>
                    <a:pt x="5137184" y="144265"/>
                  </a:lnTo>
                  <a:lnTo>
                    <a:pt x="5093639" y="117360"/>
                  </a:lnTo>
                  <a:lnTo>
                    <a:pt x="5048594" y="93046"/>
                  </a:lnTo>
                  <a:lnTo>
                    <a:pt x="5002343" y="71480"/>
                  </a:lnTo>
                  <a:lnTo>
                    <a:pt x="4955013" y="52694"/>
                  </a:lnTo>
                  <a:lnTo>
                    <a:pt x="4906731" y="36717"/>
                  </a:lnTo>
                  <a:lnTo>
                    <a:pt x="4857625" y="23578"/>
                  </a:lnTo>
                  <a:lnTo>
                    <a:pt x="4807823" y="13307"/>
                  </a:lnTo>
                  <a:lnTo>
                    <a:pt x="4757453" y="5934"/>
                  </a:lnTo>
                  <a:lnTo>
                    <a:pt x="4706641" y="1488"/>
                  </a:lnTo>
                  <a:lnTo>
                    <a:pt x="4655515" y="0"/>
                  </a:lnTo>
                  <a:close/>
                </a:path>
              </a:pathLst>
            </a:custGeom>
            <a:solidFill>
              <a:srgbClr val="F7F9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26480" y="1051559"/>
              <a:ext cx="5532120" cy="5257800"/>
            </a:xfrm>
            <a:custGeom>
              <a:avLst/>
              <a:gdLst/>
              <a:ahLst/>
              <a:cxnLst/>
              <a:rect l="l" t="t" r="r" b="b"/>
              <a:pathLst>
                <a:path w="5532120" h="5257800">
                  <a:moveTo>
                    <a:pt x="0" y="876236"/>
                  </a:moveTo>
                  <a:lnTo>
                    <a:pt x="1488" y="825111"/>
                  </a:lnTo>
                  <a:lnTo>
                    <a:pt x="5934" y="774300"/>
                  </a:lnTo>
                  <a:lnTo>
                    <a:pt x="13307" y="723931"/>
                  </a:lnTo>
                  <a:lnTo>
                    <a:pt x="23578" y="674131"/>
                  </a:lnTo>
                  <a:lnTo>
                    <a:pt x="36717" y="625027"/>
                  </a:lnTo>
                  <a:lnTo>
                    <a:pt x="52694" y="576747"/>
                  </a:lnTo>
                  <a:lnTo>
                    <a:pt x="71480" y="529419"/>
                  </a:lnTo>
                  <a:lnTo>
                    <a:pt x="93046" y="483169"/>
                  </a:lnTo>
                  <a:lnTo>
                    <a:pt x="117360" y="438124"/>
                  </a:lnTo>
                  <a:lnTo>
                    <a:pt x="144265" y="394576"/>
                  </a:lnTo>
                  <a:lnTo>
                    <a:pt x="173560" y="352798"/>
                  </a:lnTo>
                  <a:lnTo>
                    <a:pt x="205158" y="312878"/>
                  </a:lnTo>
                  <a:lnTo>
                    <a:pt x="238970" y="274906"/>
                  </a:lnTo>
                  <a:lnTo>
                    <a:pt x="274906" y="238970"/>
                  </a:lnTo>
                  <a:lnTo>
                    <a:pt x="312878" y="205158"/>
                  </a:lnTo>
                  <a:lnTo>
                    <a:pt x="352798" y="173560"/>
                  </a:lnTo>
                  <a:lnTo>
                    <a:pt x="394576" y="144265"/>
                  </a:lnTo>
                  <a:lnTo>
                    <a:pt x="438124" y="117360"/>
                  </a:lnTo>
                  <a:lnTo>
                    <a:pt x="483169" y="93046"/>
                  </a:lnTo>
                  <a:lnTo>
                    <a:pt x="529419" y="71480"/>
                  </a:lnTo>
                  <a:lnTo>
                    <a:pt x="576747" y="52694"/>
                  </a:lnTo>
                  <a:lnTo>
                    <a:pt x="625027" y="36717"/>
                  </a:lnTo>
                  <a:lnTo>
                    <a:pt x="674131" y="23578"/>
                  </a:lnTo>
                  <a:lnTo>
                    <a:pt x="723931" y="13307"/>
                  </a:lnTo>
                  <a:lnTo>
                    <a:pt x="774300" y="5934"/>
                  </a:lnTo>
                  <a:lnTo>
                    <a:pt x="825111" y="1488"/>
                  </a:lnTo>
                  <a:lnTo>
                    <a:pt x="876236" y="0"/>
                  </a:lnTo>
                  <a:lnTo>
                    <a:pt x="4655515" y="0"/>
                  </a:lnTo>
                  <a:lnTo>
                    <a:pt x="4706641" y="1488"/>
                  </a:lnTo>
                  <a:lnTo>
                    <a:pt x="4757453" y="5934"/>
                  </a:lnTo>
                  <a:lnTo>
                    <a:pt x="4807823" y="13307"/>
                  </a:lnTo>
                  <a:lnTo>
                    <a:pt x="4857625" y="23578"/>
                  </a:lnTo>
                  <a:lnTo>
                    <a:pt x="4906731" y="36717"/>
                  </a:lnTo>
                  <a:lnTo>
                    <a:pt x="4955013" y="52694"/>
                  </a:lnTo>
                  <a:lnTo>
                    <a:pt x="5002343" y="71480"/>
                  </a:lnTo>
                  <a:lnTo>
                    <a:pt x="5048594" y="93046"/>
                  </a:lnTo>
                  <a:lnTo>
                    <a:pt x="5093639" y="117360"/>
                  </a:lnTo>
                  <a:lnTo>
                    <a:pt x="5137184" y="144265"/>
                  </a:lnTo>
                  <a:lnTo>
                    <a:pt x="5178961" y="173560"/>
                  </a:lnTo>
                  <a:lnTo>
                    <a:pt x="5218880" y="205158"/>
                  </a:lnTo>
                  <a:lnTo>
                    <a:pt x="5256852" y="238970"/>
                  </a:lnTo>
                  <a:lnTo>
                    <a:pt x="5292790" y="274906"/>
                  </a:lnTo>
                  <a:lnTo>
                    <a:pt x="5326602" y="312878"/>
                  </a:lnTo>
                  <a:lnTo>
                    <a:pt x="5358202" y="352798"/>
                  </a:lnTo>
                  <a:lnTo>
                    <a:pt x="5387498" y="394576"/>
                  </a:lnTo>
                  <a:lnTo>
                    <a:pt x="5414403" y="438124"/>
                  </a:lnTo>
                  <a:lnTo>
                    <a:pt x="5438718" y="483169"/>
                  </a:lnTo>
                  <a:lnTo>
                    <a:pt x="5460283" y="529419"/>
                  </a:lnTo>
                  <a:lnTo>
                    <a:pt x="5479069" y="576747"/>
                  </a:lnTo>
                  <a:lnTo>
                    <a:pt x="5495047" y="625027"/>
                  </a:lnTo>
                  <a:lnTo>
                    <a:pt x="5508186" y="674131"/>
                  </a:lnTo>
                  <a:lnTo>
                    <a:pt x="5518457" y="723931"/>
                  </a:lnTo>
                  <a:lnTo>
                    <a:pt x="5525830" y="774300"/>
                  </a:lnTo>
                  <a:lnTo>
                    <a:pt x="5530275" y="825111"/>
                  </a:lnTo>
                  <a:lnTo>
                    <a:pt x="5531764" y="876236"/>
                  </a:lnTo>
                  <a:lnTo>
                    <a:pt x="5532120" y="4381195"/>
                  </a:lnTo>
                  <a:lnTo>
                    <a:pt x="5530631" y="4432321"/>
                  </a:lnTo>
                  <a:lnTo>
                    <a:pt x="5526185" y="4483133"/>
                  </a:lnTo>
                  <a:lnTo>
                    <a:pt x="5518812" y="4533503"/>
                  </a:lnTo>
                  <a:lnTo>
                    <a:pt x="5508541" y="4583305"/>
                  </a:lnTo>
                  <a:lnTo>
                    <a:pt x="5495402" y="4632411"/>
                  </a:lnTo>
                  <a:lnTo>
                    <a:pt x="5479425" y="4680693"/>
                  </a:lnTo>
                  <a:lnTo>
                    <a:pt x="5460639" y="4728023"/>
                  </a:lnTo>
                  <a:lnTo>
                    <a:pt x="5439073" y="4774274"/>
                  </a:lnTo>
                  <a:lnTo>
                    <a:pt x="5414759" y="4819319"/>
                  </a:lnTo>
                  <a:lnTo>
                    <a:pt x="5387854" y="4862864"/>
                  </a:lnTo>
                  <a:lnTo>
                    <a:pt x="5358559" y="4904641"/>
                  </a:lnTo>
                  <a:lnTo>
                    <a:pt x="5326961" y="4944560"/>
                  </a:lnTo>
                  <a:lnTo>
                    <a:pt x="5293149" y="4982532"/>
                  </a:lnTo>
                  <a:lnTo>
                    <a:pt x="5257213" y="5018470"/>
                  </a:lnTo>
                  <a:lnTo>
                    <a:pt x="5219241" y="5052282"/>
                  </a:lnTo>
                  <a:lnTo>
                    <a:pt x="5179321" y="5083882"/>
                  </a:lnTo>
                  <a:lnTo>
                    <a:pt x="5137543" y="5113178"/>
                  </a:lnTo>
                  <a:lnTo>
                    <a:pt x="5093995" y="5140083"/>
                  </a:lnTo>
                  <a:lnTo>
                    <a:pt x="5048950" y="5164398"/>
                  </a:lnTo>
                  <a:lnTo>
                    <a:pt x="5002700" y="5185963"/>
                  </a:lnTo>
                  <a:lnTo>
                    <a:pt x="4955372" y="5204749"/>
                  </a:lnTo>
                  <a:lnTo>
                    <a:pt x="4907092" y="5220727"/>
                  </a:lnTo>
                  <a:lnTo>
                    <a:pt x="4857988" y="5233866"/>
                  </a:lnTo>
                  <a:lnTo>
                    <a:pt x="4808188" y="5244137"/>
                  </a:lnTo>
                  <a:lnTo>
                    <a:pt x="4757819" y="5251510"/>
                  </a:lnTo>
                  <a:lnTo>
                    <a:pt x="4707008" y="5255955"/>
                  </a:lnTo>
                  <a:lnTo>
                    <a:pt x="4655883" y="5257444"/>
                  </a:lnTo>
                  <a:lnTo>
                    <a:pt x="876236" y="5257800"/>
                  </a:lnTo>
                  <a:lnTo>
                    <a:pt x="825111" y="5256311"/>
                  </a:lnTo>
                  <a:lnTo>
                    <a:pt x="774300" y="5251865"/>
                  </a:lnTo>
                  <a:lnTo>
                    <a:pt x="723931" y="5244492"/>
                  </a:lnTo>
                  <a:lnTo>
                    <a:pt x="674131" y="5234221"/>
                  </a:lnTo>
                  <a:lnTo>
                    <a:pt x="625027" y="5221082"/>
                  </a:lnTo>
                  <a:lnTo>
                    <a:pt x="576747" y="5205105"/>
                  </a:lnTo>
                  <a:lnTo>
                    <a:pt x="529419" y="5186319"/>
                  </a:lnTo>
                  <a:lnTo>
                    <a:pt x="483169" y="5164753"/>
                  </a:lnTo>
                  <a:lnTo>
                    <a:pt x="438124" y="5140439"/>
                  </a:lnTo>
                  <a:lnTo>
                    <a:pt x="394576" y="5113534"/>
                  </a:lnTo>
                  <a:lnTo>
                    <a:pt x="352798" y="5084239"/>
                  </a:lnTo>
                  <a:lnTo>
                    <a:pt x="312878" y="5052641"/>
                  </a:lnTo>
                  <a:lnTo>
                    <a:pt x="274906" y="5018829"/>
                  </a:lnTo>
                  <a:lnTo>
                    <a:pt x="238970" y="4982893"/>
                  </a:lnTo>
                  <a:lnTo>
                    <a:pt x="205158" y="4944921"/>
                  </a:lnTo>
                  <a:lnTo>
                    <a:pt x="173560" y="4905001"/>
                  </a:lnTo>
                  <a:lnTo>
                    <a:pt x="144265" y="4863223"/>
                  </a:lnTo>
                  <a:lnTo>
                    <a:pt x="117360" y="4819675"/>
                  </a:lnTo>
                  <a:lnTo>
                    <a:pt x="93046" y="4774630"/>
                  </a:lnTo>
                  <a:lnTo>
                    <a:pt x="71480" y="4728380"/>
                  </a:lnTo>
                  <a:lnTo>
                    <a:pt x="52694" y="4681052"/>
                  </a:lnTo>
                  <a:lnTo>
                    <a:pt x="36717" y="4632772"/>
                  </a:lnTo>
                  <a:lnTo>
                    <a:pt x="23578" y="4583668"/>
                  </a:lnTo>
                  <a:lnTo>
                    <a:pt x="13307" y="4533868"/>
                  </a:lnTo>
                  <a:lnTo>
                    <a:pt x="5934" y="4483499"/>
                  </a:lnTo>
                  <a:lnTo>
                    <a:pt x="1488" y="4432688"/>
                  </a:lnTo>
                  <a:lnTo>
                    <a:pt x="0" y="4381563"/>
                  </a:lnTo>
                  <a:lnTo>
                    <a:pt x="0" y="876236"/>
                  </a:lnTo>
                  <a:close/>
                </a:path>
              </a:pathLst>
            </a:custGeom>
            <a:ln w="9359">
              <a:solidFill>
                <a:srgbClr val="CC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139419" y="1156576"/>
            <a:ext cx="3498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Getting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Started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with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Artificial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54635" y="1860829"/>
            <a:ext cx="5275795" cy="40770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Certificates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IBM</a:t>
            </a:r>
            <a:r>
              <a:rPr dirty="0" spc="-50"/>
              <a:t> </a:t>
            </a:r>
            <a:r>
              <a:rPr dirty="0"/>
              <a:t>SkillsBuild</a:t>
            </a:r>
            <a:r>
              <a:rPr dirty="0" spc="-50"/>
              <a:t> </a:t>
            </a:r>
            <a:r>
              <a:rPr dirty="0"/>
              <a:t>Credentials</a:t>
            </a:r>
            <a:r>
              <a:rPr dirty="0" spc="570"/>
              <a:t> </a:t>
            </a:r>
            <a:r>
              <a:rPr dirty="0"/>
              <a:t>•</a:t>
            </a:r>
            <a:r>
              <a:rPr dirty="0" spc="565"/>
              <a:t> </a:t>
            </a:r>
            <a:r>
              <a:rPr dirty="0" spc="-5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2597" y="768946"/>
            <a:ext cx="11235690" cy="116205"/>
            <a:chOff x="462597" y="768946"/>
            <a:chExt cx="11235690" cy="1162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597" y="768946"/>
              <a:ext cx="11235245" cy="1159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2564" y="785876"/>
              <a:ext cx="11155680" cy="36830"/>
            </a:xfrm>
            <a:custGeom>
              <a:avLst/>
              <a:gdLst/>
              <a:ahLst/>
              <a:cxnLst/>
              <a:rect l="l" t="t" r="r" b="b"/>
              <a:pathLst>
                <a:path w="11155680" h="36830">
                  <a:moveTo>
                    <a:pt x="11155311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5577840" y="36360"/>
                  </a:lnTo>
                  <a:lnTo>
                    <a:pt x="11155311" y="36360"/>
                  </a:lnTo>
                  <a:lnTo>
                    <a:pt x="11155311" y="0"/>
                  </a:lnTo>
                  <a:close/>
                </a:path>
              </a:pathLst>
            </a:custGeom>
            <a:solidFill>
              <a:srgbClr val="1E366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869403" y="1029944"/>
            <a:ext cx="10422255" cy="5347335"/>
            <a:chOff x="869403" y="1029944"/>
            <a:chExt cx="10422255" cy="53473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403" y="1029944"/>
              <a:ext cx="10422001" cy="53467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4044" y="1051559"/>
              <a:ext cx="10332720" cy="5257800"/>
            </a:xfrm>
            <a:custGeom>
              <a:avLst/>
              <a:gdLst/>
              <a:ahLst/>
              <a:cxnLst/>
              <a:rect l="l" t="t" r="r" b="b"/>
              <a:pathLst>
                <a:path w="10332720" h="5257800">
                  <a:moveTo>
                    <a:pt x="9456115" y="0"/>
                  </a:moveTo>
                  <a:lnTo>
                    <a:pt x="876236" y="0"/>
                  </a:lnTo>
                  <a:lnTo>
                    <a:pt x="825110" y="1488"/>
                  </a:lnTo>
                  <a:lnTo>
                    <a:pt x="774298" y="5934"/>
                  </a:lnTo>
                  <a:lnTo>
                    <a:pt x="723927" y="13307"/>
                  </a:lnTo>
                  <a:lnTo>
                    <a:pt x="674125" y="23578"/>
                  </a:lnTo>
                  <a:lnTo>
                    <a:pt x="625020" y="36717"/>
                  </a:lnTo>
                  <a:lnTo>
                    <a:pt x="576738" y="52694"/>
                  </a:lnTo>
                  <a:lnTo>
                    <a:pt x="529408" y="71480"/>
                  </a:lnTo>
                  <a:lnTo>
                    <a:pt x="483156" y="93046"/>
                  </a:lnTo>
                  <a:lnTo>
                    <a:pt x="438111" y="117360"/>
                  </a:lnTo>
                  <a:lnTo>
                    <a:pt x="394567" y="144265"/>
                  </a:lnTo>
                  <a:lnTo>
                    <a:pt x="352792" y="173560"/>
                  </a:lnTo>
                  <a:lnTo>
                    <a:pt x="312874" y="205158"/>
                  </a:lnTo>
                  <a:lnTo>
                    <a:pt x="274904" y="238970"/>
                  </a:lnTo>
                  <a:lnTo>
                    <a:pt x="238968" y="274906"/>
                  </a:lnTo>
                  <a:lnTo>
                    <a:pt x="205158" y="312878"/>
                  </a:lnTo>
                  <a:lnTo>
                    <a:pt x="173560" y="352798"/>
                  </a:lnTo>
                  <a:lnTo>
                    <a:pt x="144265" y="394576"/>
                  </a:lnTo>
                  <a:lnTo>
                    <a:pt x="117360" y="438124"/>
                  </a:lnTo>
                  <a:lnTo>
                    <a:pt x="93042" y="483169"/>
                  </a:lnTo>
                  <a:lnTo>
                    <a:pt x="71475" y="529419"/>
                  </a:lnTo>
                  <a:lnTo>
                    <a:pt x="52689" y="576747"/>
                  </a:lnTo>
                  <a:lnTo>
                    <a:pt x="36711" y="625027"/>
                  </a:lnTo>
                  <a:lnTo>
                    <a:pt x="23573" y="674131"/>
                  </a:lnTo>
                  <a:lnTo>
                    <a:pt x="13304" y="723931"/>
                  </a:lnTo>
                  <a:lnTo>
                    <a:pt x="5932" y="774300"/>
                  </a:lnTo>
                  <a:lnTo>
                    <a:pt x="1488" y="825111"/>
                  </a:lnTo>
                  <a:lnTo>
                    <a:pt x="0" y="876236"/>
                  </a:lnTo>
                  <a:lnTo>
                    <a:pt x="0" y="4381563"/>
                  </a:lnTo>
                  <a:lnTo>
                    <a:pt x="1477" y="4432321"/>
                  </a:lnTo>
                  <a:lnTo>
                    <a:pt x="1488" y="4432688"/>
                  </a:lnTo>
                  <a:lnTo>
                    <a:pt x="5900" y="4483133"/>
                  </a:lnTo>
                  <a:lnTo>
                    <a:pt x="5932" y="4483499"/>
                  </a:lnTo>
                  <a:lnTo>
                    <a:pt x="13251" y="4533503"/>
                  </a:lnTo>
                  <a:lnTo>
                    <a:pt x="13304" y="4533868"/>
                  </a:lnTo>
                  <a:lnTo>
                    <a:pt x="23499" y="4583305"/>
                  </a:lnTo>
                  <a:lnTo>
                    <a:pt x="23573" y="4583668"/>
                  </a:lnTo>
                  <a:lnTo>
                    <a:pt x="36615" y="4632411"/>
                  </a:lnTo>
                  <a:lnTo>
                    <a:pt x="36711" y="4632772"/>
                  </a:lnTo>
                  <a:lnTo>
                    <a:pt x="52570" y="4680693"/>
                  </a:lnTo>
                  <a:lnTo>
                    <a:pt x="52689" y="4681052"/>
                  </a:lnTo>
                  <a:lnTo>
                    <a:pt x="71475" y="4728380"/>
                  </a:lnTo>
                  <a:lnTo>
                    <a:pt x="93042" y="4774630"/>
                  </a:lnTo>
                  <a:lnTo>
                    <a:pt x="117360" y="4819675"/>
                  </a:lnTo>
                  <a:lnTo>
                    <a:pt x="144265" y="4863223"/>
                  </a:lnTo>
                  <a:lnTo>
                    <a:pt x="173560" y="4905001"/>
                  </a:lnTo>
                  <a:lnTo>
                    <a:pt x="205158" y="4944921"/>
                  </a:lnTo>
                  <a:lnTo>
                    <a:pt x="238968" y="4982893"/>
                  </a:lnTo>
                  <a:lnTo>
                    <a:pt x="274904" y="5018829"/>
                  </a:lnTo>
                  <a:lnTo>
                    <a:pt x="312874" y="5052641"/>
                  </a:lnTo>
                  <a:lnTo>
                    <a:pt x="352792" y="5084239"/>
                  </a:lnTo>
                  <a:lnTo>
                    <a:pt x="394567" y="5113534"/>
                  </a:lnTo>
                  <a:lnTo>
                    <a:pt x="438111" y="5140439"/>
                  </a:lnTo>
                  <a:lnTo>
                    <a:pt x="483156" y="5164753"/>
                  </a:lnTo>
                  <a:lnTo>
                    <a:pt x="529408" y="5186319"/>
                  </a:lnTo>
                  <a:lnTo>
                    <a:pt x="576738" y="5205105"/>
                  </a:lnTo>
                  <a:lnTo>
                    <a:pt x="625020" y="5221082"/>
                  </a:lnTo>
                  <a:lnTo>
                    <a:pt x="674125" y="5234221"/>
                  </a:lnTo>
                  <a:lnTo>
                    <a:pt x="723927" y="5244492"/>
                  </a:lnTo>
                  <a:lnTo>
                    <a:pt x="774298" y="5251865"/>
                  </a:lnTo>
                  <a:lnTo>
                    <a:pt x="825110" y="5256311"/>
                  </a:lnTo>
                  <a:lnTo>
                    <a:pt x="876236" y="5257800"/>
                  </a:lnTo>
                  <a:lnTo>
                    <a:pt x="9456470" y="5257444"/>
                  </a:lnTo>
                  <a:lnTo>
                    <a:pt x="9507596" y="5255955"/>
                  </a:lnTo>
                  <a:lnTo>
                    <a:pt x="9558408" y="5251510"/>
                  </a:lnTo>
                  <a:lnTo>
                    <a:pt x="9608779" y="5244137"/>
                  </a:lnTo>
                  <a:lnTo>
                    <a:pt x="9658581" y="5233866"/>
                  </a:lnTo>
                  <a:lnTo>
                    <a:pt x="9707687" y="5220727"/>
                  </a:lnTo>
                  <a:lnTo>
                    <a:pt x="9755968" y="5204749"/>
                  </a:lnTo>
                  <a:lnTo>
                    <a:pt x="9803299" y="5185963"/>
                  </a:lnTo>
                  <a:lnTo>
                    <a:pt x="9849550" y="5164398"/>
                  </a:lnTo>
                  <a:lnTo>
                    <a:pt x="9894595" y="5140083"/>
                  </a:lnTo>
                  <a:lnTo>
                    <a:pt x="9938140" y="5113178"/>
                  </a:lnTo>
                  <a:lnTo>
                    <a:pt x="9979916" y="5083882"/>
                  </a:lnTo>
                  <a:lnTo>
                    <a:pt x="10019835" y="5052282"/>
                  </a:lnTo>
                  <a:lnTo>
                    <a:pt x="10057808" y="5018470"/>
                  </a:lnTo>
                  <a:lnTo>
                    <a:pt x="10093745" y="4982532"/>
                  </a:lnTo>
                  <a:lnTo>
                    <a:pt x="10127558" y="4944560"/>
                  </a:lnTo>
                  <a:lnTo>
                    <a:pt x="10159157" y="4904641"/>
                  </a:lnTo>
                  <a:lnTo>
                    <a:pt x="10188454" y="4862864"/>
                  </a:lnTo>
                  <a:lnTo>
                    <a:pt x="10215359" y="4819319"/>
                  </a:lnTo>
                  <a:lnTo>
                    <a:pt x="10239673" y="4774274"/>
                  </a:lnTo>
                  <a:lnTo>
                    <a:pt x="10261239" y="4728023"/>
                  </a:lnTo>
                  <a:lnTo>
                    <a:pt x="10280025" y="4680693"/>
                  </a:lnTo>
                  <a:lnTo>
                    <a:pt x="10295883" y="4632772"/>
                  </a:lnTo>
                  <a:lnTo>
                    <a:pt x="10296002" y="4632411"/>
                  </a:lnTo>
                  <a:lnTo>
                    <a:pt x="10309044" y="4583668"/>
                  </a:lnTo>
                  <a:lnTo>
                    <a:pt x="10319337" y="4533868"/>
                  </a:lnTo>
                  <a:lnTo>
                    <a:pt x="10326732" y="4483499"/>
                  </a:lnTo>
                  <a:lnTo>
                    <a:pt x="10326785" y="4483133"/>
                  </a:lnTo>
                  <a:lnTo>
                    <a:pt x="10331199" y="4432688"/>
                  </a:lnTo>
                  <a:lnTo>
                    <a:pt x="10331231" y="4432321"/>
                  </a:lnTo>
                  <a:lnTo>
                    <a:pt x="10332709" y="4381563"/>
                  </a:lnTo>
                  <a:lnTo>
                    <a:pt x="10332351" y="876236"/>
                  </a:lnTo>
                  <a:lnTo>
                    <a:pt x="10330863" y="825111"/>
                  </a:lnTo>
                  <a:lnTo>
                    <a:pt x="10326419" y="774300"/>
                  </a:lnTo>
                  <a:lnTo>
                    <a:pt x="10319047" y="723931"/>
                  </a:lnTo>
                  <a:lnTo>
                    <a:pt x="10308777" y="674131"/>
                  </a:lnTo>
                  <a:lnTo>
                    <a:pt x="10295639" y="625027"/>
                  </a:lnTo>
                  <a:lnTo>
                    <a:pt x="10279662" y="576747"/>
                  </a:lnTo>
                  <a:lnTo>
                    <a:pt x="10260875" y="529419"/>
                  </a:lnTo>
                  <a:lnTo>
                    <a:pt x="10239308" y="483169"/>
                  </a:lnTo>
                  <a:lnTo>
                    <a:pt x="10214991" y="438124"/>
                  </a:lnTo>
                  <a:lnTo>
                    <a:pt x="10188086" y="394576"/>
                  </a:lnTo>
                  <a:lnTo>
                    <a:pt x="10158791" y="352798"/>
                  </a:lnTo>
                  <a:lnTo>
                    <a:pt x="10127193" y="312878"/>
                  </a:lnTo>
                  <a:lnTo>
                    <a:pt x="10093382" y="274906"/>
                  </a:lnTo>
                  <a:lnTo>
                    <a:pt x="10057447" y="238970"/>
                  </a:lnTo>
                  <a:lnTo>
                    <a:pt x="10019476" y="205158"/>
                  </a:lnTo>
                  <a:lnTo>
                    <a:pt x="9979559" y="173560"/>
                  </a:lnTo>
                  <a:lnTo>
                    <a:pt x="9937784" y="144265"/>
                  </a:lnTo>
                  <a:lnTo>
                    <a:pt x="9894239" y="117360"/>
                  </a:lnTo>
                  <a:lnTo>
                    <a:pt x="9849191" y="93046"/>
                  </a:lnTo>
                  <a:lnTo>
                    <a:pt x="9802938" y="71480"/>
                  </a:lnTo>
                  <a:lnTo>
                    <a:pt x="9755607" y="52694"/>
                  </a:lnTo>
                  <a:lnTo>
                    <a:pt x="9707326" y="36717"/>
                  </a:lnTo>
                  <a:lnTo>
                    <a:pt x="9658221" y="23578"/>
                  </a:lnTo>
                  <a:lnTo>
                    <a:pt x="9608421" y="13307"/>
                  </a:lnTo>
                  <a:lnTo>
                    <a:pt x="9558051" y="5934"/>
                  </a:lnTo>
                  <a:lnTo>
                    <a:pt x="9507240" y="1488"/>
                  </a:lnTo>
                  <a:lnTo>
                    <a:pt x="9456115" y="0"/>
                  </a:lnTo>
                  <a:close/>
                </a:path>
              </a:pathLst>
            </a:custGeom>
            <a:solidFill>
              <a:srgbClr val="F7F9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044" y="1051559"/>
              <a:ext cx="10332720" cy="5257800"/>
            </a:xfrm>
            <a:custGeom>
              <a:avLst/>
              <a:gdLst/>
              <a:ahLst/>
              <a:cxnLst/>
              <a:rect l="l" t="t" r="r" b="b"/>
              <a:pathLst>
                <a:path w="10332720" h="5257800">
                  <a:moveTo>
                    <a:pt x="0" y="876236"/>
                  </a:moveTo>
                  <a:lnTo>
                    <a:pt x="1488" y="825111"/>
                  </a:lnTo>
                  <a:lnTo>
                    <a:pt x="5932" y="774300"/>
                  </a:lnTo>
                  <a:lnTo>
                    <a:pt x="13304" y="723931"/>
                  </a:lnTo>
                  <a:lnTo>
                    <a:pt x="23573" y="674131"/>
                  </a:lnTo>
                  <a:lnTo>
                    <a:pt x="36711" y="625027"/>
                  </a:lnTo>
                  <a:lnTo>
                    <a:pt x="52689" y="576747"/>
                  </a:lnTo>
                  <a:lnTo>
                    <a:pt x="71475" y="529419"/>
                  </a:lnTo>
                  <a:lnTo>
                    <a:pt x="93042" y="483169"/>
                  </a:lnTo>
                  <a:lnTo>
                    <a:pt x="117360" y="438124"/>
                  </a:lnTo>
                  <a:lnTo>
                    <a:pt x="144265" y="394576"/>
                  </a:lnTo>
                  <a:lnTo>
                    <a:pt x="173560" y="352798"/>
                  </a:lnTo>
                  <a:lnTo>
                    <a:pt x="205158" y="312878"/>
                  </a:lnTo>
                  <a:lnTo>
                    <a:pt x="238968" y="274906"/>
                  </a:lnTo>
                  <a:lnTo>
                    <a:pt x="274904" y="238970"/>
                  </a:lnTo>
                  <a:lnTo>
                    <a:pt x="312874" y="205158"/>
                  </a:lnTo>
                  <a:lnTo>
                    <a:pt x="352792" y="173560"/>
                  </a:lnTo>
                  <a:lnTo>
                    <a:pt x="394567" y="144265"/>
                  </a:lnTo>
                  <a:lnTo>
                    <a:pt x="438111" y="117360"/>
                  </a:lnTo>
                  <a:lnTo>
                    <a:pt x="483156" y="93046"/>
                  </a:lnTo>
                  <a:lnTo>
                    <a:pt x="529408" y="71480"/>
                  </a:lnTo>
                  <a:lnTo>
                    <a:pt x="576738" y="52694"/>
                  </a:lnTo>
                  <a:lnTo>
                    <a:pt x="625020" y="36717"/>
                  </a:lnTo>
                  <a:lnTo>
                    <a:pt x="674125" y="23578"/>
                  </a:lnTo>
                  <a:lnTo>
                    <a:pt x="723927" y="13307"/>
                  </a:lnTo>
                  <a:lnTo>
                    <a:pt x="774298" y="5934"/>
                  </a:lnTo>
                  <a:lnTo>
                    <a:pt x="825110" y="1488"/>
                  </a:lnTo>
                  <a:lnTo>
                    <a:pt x="876236" y="0"/>
                  </a:lnTo>
                  <a:lnTo>
                    <a:pt x="9456115" y="0"/>
                  </a:lnTo>
                  <a:lnTo>
                    <a:pt x="9507240" y="1488"/>
                  </a:lnTo>
                  <a:lnTo>
                    <a:pt x="9558051" y="5934"/>
                  </a:lnTo>
                  <a:lnTo>
                    <a:pt x="9608421" y="13307"/>
                  </a:lnTo>
                  <a:lnTo>
                    <a:pt x="9658221" y="23578"/>
                  </a:lnTo>
                  <a:lnTo>
                    <a:pt x="9707326" y="36717"/>
                  </a:lnTo>
                  <a:lnTo>
                    <a:pt x="9755607" y="52694"/>
                  </a:lnTo>
                  <a:lnTo>
                    <a:pt x="9802938" y="71480"/>
                  </a:lnTo>
                  <a:lnTo>
                    <a:pt x="9849191" y="93046"/>
                  </a:lnTo>
                  <a:lnTo>
                    <a:pt x="9894239" y="117360"/>
                  </a:lnTo>
                  <a:lnTo>
                    <a:pt x="9937784" y="144265"/>
                  </a:lnTo>
                  <a:lnTo>
                    <a:pt x="9979559" y="173560"/>
                  </a:lnTo>
                  <a:lnTo>
                    <a:pt x="10019476" y="205158"/>
                  </a:lnTo>
                  <a:lnTo>
                    <a:pt x="10057447" y="238970"/>
                  </a:lnTo>
                  <a:lnTo>
                    <a:pt x="10093382" y="274906"/>
                  </a:lnTo>
                  <a:lnTo>
                    <a:pt x="10127193" y="312878"/>
                  </a:lnTo>
                  <a:lnTo>
                    <a:pt x="10158791" y="352798"/>
                  </a:lnTo>
                  <a:lnTo>
                    <a:pt x="10188086" y="394576"/>
                  </a:lnTo>
                  <a:lnTo>
                    <a:pt x="10214991" y="438124"/>
                  </a:lnTo>
                  <a:lnTo>
                    <a:pt x="10239308" y="483169"/>
                  </a:lnTo>
                  <a:lnTo>
                    <a:pt x="10260875" y="529419"/>
                  </a:lnTo>
                  <a:lnTo>
                    <a:pt x="10279662" y="576747"/>
                  </a:lnTo>
                  <a:lnTo>
                    <a:pt x="10295639" y="625027"/>
                  </a:lnTo>
                  <a:lnTo>
                    <a:pt x="10308777" y="674131"/>
                  </a:lnTo>
                  <a:lnTo>
                    <a:pt x="10319047" y="723931"/>
                  </a:lnTo>
                  <a:lnTo>
                    <a:pt x="10326419" y="774300"/>
                  </a:lnTo>
                  <a:lnTo>
                    <a:pt x="10330863" y="825111"/>
                  </a:lnTo>
                  <a:lnTo>
                    <a:pt x="10332351" y="876236"/>
                  </a:lnTo>
                  <a:lnTo>
                    <a:pt x="10332720" y="4381195"/>
                  </a:lnTo>
                  <a:lnTo>
                    <a:pt x="10331231" y="4432321"/>
                  </a:lnTo>
                  <a:lnTo>
                    <a:pt x="10326785" y="4483133"/>
                  </a:lnTo>
                  <a:lnTo>
                    <a:pt x="10319412" y="4533503"/>
                  </a:lnTo>
                  <a:lnTo>
                    <a:pt x="10309141" y="4583305"/>
                  </a:lnTo>
                  <a:lnTo>
                    <a:pt x="10296002" y="4632411"/>
                  </a:lnTo>
                  <a:lnTo>
                    <a:pt x="10280025" y="4680693"/>
                  </a:lnTo>
                  <a:lnTo>
                    <a:pt x="10261239" y="4728023"/>
                  </a:lnTo>
                  <a:lnTo>
                    <a:pt x="10239673" y="4774274"/>
                  </a:lnTo>
                  <a:lnTo>
                    <a:pt x="10215359" y="4819319"/>
                  </a:lnTo>
                  <a:lnTo>
                    <a:pt x="10188454" y="4862864"/>
                  </a:lnTo>
                  <a:lnTo>
                    <a:pt x="10159157" y="4904641"/>
                  </a:lnTo>
                  <a:lnTo>
                    <a:pt x="10127558" y="4944560"/>
                  </a:lnTo>
                  <a:lnTo>
                    <a:pt x="10093745" y="4982532"/>
                  </a:lnTo>
                  <a:lnTo>
                    <a:pt x="10057808" y="5018470"/>
                  </a:lnTo>
                  <a:lnTo>
                    <a:pt x="10019835" y="5052282"/>
                  </a:lnTo>
                  <a:lnTo>
                    <a:pt x="9979916" y="5083882"/>
                  </a:lnTo>
                  <a:lnTo>
                    <a:pt x="9938140" y="5113178"/>
                  </a:lnTo>
                  <a:lnTo>
                    <a:pt x="9894595" y="5140083"/>
                  </a:lnTo>
                  <a:lnTo>
                    <a:pt x="9849550" y="5164398"/>
                  </a:lnTo>
                  <a:lnTo>
                    <a:pt x="9803299" y="5185963"/>
                  </a:lnTo>
                  <a:lnTo>
                    <a:pt x="9755968" y="5204749"/>
                  </a:lnTo>
                  <a:lnTo>
                    <a:pt x="9707687" y="5220727"/>
                  </a:lnTo>
                  <a:lnTo>
                    <a:pt x="9658581" y="5233866"/>
                  </a:lnTo>
                  <a:lnTo>
                    <a:pt x="9608779" y="5244137"/>
                  </a:lnTo>
                  <a:lnTo>
                    <a:pt x="9558408" y="5251510"/>
                  </a:lnTo>
                  <a:lnTo>
                    <a:pt x="9507596" y="5255955"/>
                  </a:lnTo>
                  <a:lnTo>
                    <a:pt x="9456470" y="5257444"/>
                  </a:lnTo>
                  <a:lnTo>
                    <a:pt x="876236" y="5257800"/>
                  </a:lnTo>
                  <a:lnTo>
                    <a:pt x="825110" y="5256311"/>
                  </a:lnTo>
                  <a:lnTo>
                    <a:pt x="774298" y="5251865"/>
                  </a:lnTo>
                  <a:lnTo>
                    <a:pt x="723927" y="5244492"/>
                  </a:lnTo>
                  <a:lnTo>
                    <a:pt x="674125" y="5234221"/>
                  </a:lnTo>
                  <a:lnTo>
                    <a:pt x="625020" y="5221082"/>
                  </a:lnTo>
                  <a:lnTo>
                    <a:pt x="576738" y="5205105"/>
                  </a:lnTo>
                  <a:lnTo>
                    <a:pt x="529408" y="5186319"/>
                  </a:lnTo>
                  <a:lnTo>
                    <a:pt x="483156" y="5164753"/>
                  </a:lnTo>
                  <a:lnTo>
                    <a:pt x="438111" y="5140439"/>
                  </a:lnTo>
                  <a:lnTo>
                    <a:pt x="394567" y="5113534"/>
                  </a:lnTo>
                  <a:lnTo>
                    <a:pt x="352792" y="5084239"/>
                  </a:lnTo>
                  <a:lnTo>
                    <a:pt x="312874" y="5052641"/>
                  </a:lnTo>
                  <a:lnTo>
                    <a:pt x="274904" y="5018829"/>
                  </a:lnTo>
                  <a:lnTo>
                    <a:pt x="238968" y="4982893"/>
                  </a:lnTo>
                  <a:lnTo>
                    <a:pt x="205158" y="4944921"/>
                  </a:lnTo>
                  <a:lnTo>
                    <a:pt x="173560" y="4905001"/>
                  </a:lnTo>
                  <a:lnTo>
                    <a:pt x="144265" y="4863223"/>
                  </a:lnTo>
                  <a:lnTo>
                    <a:pt x="117360" y="4819675"/>
                  </a:lnTo>
                  <a:lnTo>
                    <a:pt x="93042" y="4774630"/>
                  </a:lnTo>
                  <a:lnTo>
                    <a:pt x="71475" y="4728380"/>
                  </a:lnTo>
                  <a:lnTo>
                    <a:pt x="52689" y="4681052"/>
                  </a:lnTo>
                  <a:lnTo>
                    <a:pt x="36711" y="4632772"/>
                  </a:lnTo>
                  <a:lnTo>
                    <a:pt x="23573" y="4583668"/>
                  </a:lnTo>
                  <a:lnTo>
                    <a:pt x="13304" y="4533868"/>
                  </a:lnTo>
                  <a:lnTo>
                    <a:pt x="5932" y="4483499"/>
                  </a:lnTo>
                  <a:lnTo>
                    <a:pt x="1488" y="4432688"/>
                  </a:lnTo>
                  <a:lnTo>
                    <a:pt x="0" y="4381563"/>
                  </a:lnTo>
                  <a:lnTo>
                    <a:pt x="0" y="876236"/>
                  </a:lnTo>
                  <a:close/>
                </a:path>
              </a:pathLst>
            </a:custGeom>
            <a:ln w="9359">
              <a:solidFill>
                <a:srgbClr val="CC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164380" y="1156576"/>
            <a:ext cx="38252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Lab: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Troubleshoot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Your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Code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Using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IBM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Bob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0840" y="1554124"/>
            <a:ext cx="6639483" cy="4690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63986" y="2372296"/>
            <a:ext cx="303276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13365E"/>
                </a:solidFill>
              </a:rPr>
              <a:t>THANK</a:t>
            </a:r>
            <a:r>
              <a:rPr dirty="0" sz="4000" spc="-105">
                <a:solidFill>
                  <a:srgbClr val="13365E"/>
                </a:solidFill>
              </a:rPr>
              <a:t> </a:t>
            </a:r>
            <a:r>
              <a:rPr dirty="0" sz="4000" spc="-25">
                <a:solidFill>
                  <a:srgbClr val="13365E"/>
                </a:solidFill>
              </a:rPr>
              <a:t>YOU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92299" y="2981782"/>
            <a:ext cx="777176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880"/>
              </a:lnSpc>
              <a:spcBef>
                <a:spcPts val="100"/>
              </a:spcBef>
            </a:pP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FinanceGuru</a:t>
            </a:r>
            <a:r>
              <a:rPr dirty="0" sz="2400" spc="-5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—</a:t>
            </a:r>
            <a:r>
              <a:rPr dirty="0" sz="2400" spc="-1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AI</a:t>
            </a:r>
            <a:r>
              <a:rPr dirty="0" sz="2400" spc="-12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Agent</a:t>
            </a:r>
            <a:r>
              <a:rPr dirty="0" sz="2400" spc="-4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for</a:t>
            </a:r>
            <a:r>
              <a:rPr dirty="0" sz="2400" spc="-4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Digital</a:t>
            </a:r>
            <a:r>
              <a:rPr dirty="0" sz="2400" spc="-40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3365E"/>
                </a:solidFill>
                <a:latin typeface="Arial"/>
                <a:cs typeface="Arial"/>
              </a:rPr>
              <a:t>Financial</a:t>
            </a:r>
            <a:r>
              <a:rPr dirty="0" sz="2400" spc="-35" b="1">
                <a:solidFill>
                  <a:srgbClr val="13365E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3365E"/>
                </a:solidFill>
                <a:latin typeface="Arial"/>
                <a:cs typeface="Arial"/>
              </a:rPr>
              <a:t>Literacy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900">
                <a:solidFill>
                  <a:srgbClr val="4F4F4F"/>
                </a:solidFill>
                <a:latin typeface="Microsoft Sans Serif"/>
                <a:cs typeface="Microsoft Sans Serif"/>
              </a:rPr>
              <a:t>Anurag</a:t>
            </a:r>
            <a:r>
              <a:rPr dirty="0" sz="1900" spc="-35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F4F4F"/>
                </a:solidFill>
                <a:latin typeface="Microsoft Sans Serif"/>
                <a:cs typeface="Microsoft Sans Serif"/>
              </a:rPr>
              <a:t>Singh</a:t>
            </a:r>
            <a:r>
              <a:rPr dirty="0" sz="1900" spc="434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F4F4F"/>
                </a:solidFill>
                <a:latin typeface="Microsoft Sans Serif"/>
                <a:cs typeface="Microsoft Sans Serif"/>
              </a:rPr>
              <a:t>|</a:t>
            </a:r>
            <a:r>
              <a:rPr dirty="0" sz="1900" spc="434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F4F4F"/>
                </a:solidFill>
                <a:latin typeface="Microsoft Sans Serif"/>
                <a:cs typeface="Microsoft Sans Serif"/>
                <a:hlinkClick r:id="rId2"/>
              </a:rPr>
              <a:t>anusinghz926@gmail.com</a:t>
            </a:r>
            <a:r>
              <a:rPr dirty="0" sz="1900" spc="434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4F4F4F"/>
                </a:solidFill>
                <a:latin typeface="Microsoft Sans Serif"/>
                <a:cs typeface="Microsoft Sans Serif"/>
              </a:rPr>
              <a:t>|</a:t>
            </a:r>
            <a:r>
              <a:rPr dirty="0" sz="1900" spc="434">
                <a:solidFill>
                  <a:srgbClr val="4F4F4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4F4F4F"/>
                </a:solidFill>
                <a:latin typeface="Microsoft Sans Serif"/>
                <a:cs typeface="Microsoft Sans Serif"/>
              </a:rPr>
              <a:t>9798869904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2026-09-06T12:21:49Z</dcterms:created>
  <dcterms:modified xsi:type="dcterms:W3CDTF">2026-09-06T12:21:49Z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LastSaved">
    <vt:filetime>2026-09-06T00:00:00Z</vt:filetime>
  </property>
</Properties>
</file>